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Suzuka. This is EcoLoop, our answer to problem statement 06. One line: you take a photo of any pile of waste, and EcoLoop tells you what every item is, which bin it goes in, what it's worth, and where it ends up. Let me start with why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9 percent of the world's plastic waste is recycled. We produce 460 million tonnes a year, double what we made in 2000. 22 percent is mismanaged, and 11 million tonnes reach the ocean every year. Recycling technology exists. What fails is everything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2024 study in Nature found India is the largest plastic polluter, 9.3 million tonnes a year, mostly because waste is never collected. The rules already exist: three bins since 2016, single-use plastic ban since 2022. The rules are there. What's missing is helping people follow them, item by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infrastructure, it's the moment of decision. Someone holds a bottle, a battery, a chip packet, and doesn't know. Click once to pop the three questions. One wrong item contaminates a whole bag of recyclables. And nobody ever finds out where their waste actually went. EcoLoop fixes that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EcoLoop has three parts that work as one loop. Computer vision sees every item. The digital twin tracks where each item goes. Generative AI coaches the person on what to change. The output of each feeds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The photo is converted and shrunk in the browser so it uploads fast. Detection runs two models: YOLO locally, which is fast and works offline, and Gemini Vision, which catches what YOLO misses and reads condition like "cap on" or "dirty". We merge them by box overlap. Each item gets enriched with material, weight, scrap value and CO2, becomes an event in the twin, and the coach reads the twin to give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result from our app: one photo of a mixed pile, 14 items found and labelled, including a bulb flagged as hazardous. It doesn't just say "plastic", it says "plastic bottle, cap on, rinse it first", because contamination is the main reason recycling fails. And if the internet drops, the local model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judges here: this is a process twin, a digital shadow plus a simulator. The real system is your household waste stream. The sensor is the camera and AI. The model is a flow graph using real recovery rates. It syncs on every scan, lets you run what-if scenarios, and feeds back through the coach. With smart-bin weight sensors, it becomes a full twin, and that's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twin's simulator. One thousand households, one month. If segregation goes from 20 to 60 percent, landfill drops by 38 percent and diversion goes from 18 to 50 percent. The bars show landfill tonnes, today versus with EcoLoop. These are model outputs, not measurements, and I'll say that clearly. The point is that the twin lets a city or a campus test a policy before spending money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coach isn't a generic chatbot. It reads your scan history and twin, so it can say "you threw away 6 PET bottles this week, that's ₹2 and 0.5 kg CO2". It follows Indian rules, and speaks five languages with read-aloud, so a grandmother in Kolar can use it in Kannada.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habit, and habits need understanding. The landing page explains the crisis with verified numbers. The Learn section covers the bin colours, what the numbers on plastic mean, common myths, and a quick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motivates. These are real kabadiwala rates from August 2026. A can is worth more than a rupee and a half, an old phone 120 rupees. And because dirty items are worth only 30 percent, the app gives a real reason to rinse before you recycle.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demo under two minutes. Have a pile ready on the table with a bottle, a can, a carton and a battery or bulb so the hazard alert fires. If the network is slow, use a photo already saved on the phone. Use ngrok to open it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live camera mode, smart-bin sensors to turn the shadow into a full twin, ward-level twins for municipalities and dry waste collection centres, and using user corrections to retrain the model so it gets better with every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line: every piece counts. One photo, one item at a time, and we can bring India's recycling up.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91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1F6F2"/>
                </a:solidFill>
                <a:latin typeface="Geist" pitchFamily="34" charset="0"/>
                <a:ea typeface="Geist" pitchFamily="34" charset="-122"/>
                <a:cs typeface="Geis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11"/>
            <a:ext cx="10566400" cy="4084389"/>
          </a:xfrm>
          <a:prstGeom prst="rect">
            <a:avLst/>
          </a:prstGeom>
          <a:noFill/>
          <a:ln/>
        </p:spPr>
        <p:txBody>
          <a:bodyPr wrap="square" lIns="0" tIns="0" rIns="0" bIns="0" rtlCol="0" anchor="t"/>
          <a:lstStyle>
            <a:lvl1pPr algn="l" indent="0" marL="0">
              <a:lnSpc>
                <a:spcPct val="140000"/>
              </a:lnSpc>
              <a:buNone/>
              <a:defRPr lang="en-US" sz="1600" dirty="0">
                <a:solidFill>
                  <a:srgbClr val="F1F6F2"/>
                </a:solidFill>
                <a:latin typeface="Geist" pitchFamily="34" charset="0"/>
                <a:ea typeface="Geist" pitchFamily="34" charset="-122"/>
                <a:cs typeface="Geist"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B191E"/>
                </a:solidFill>
                <a:latin typeface="Geist" pitchFamily="34" charset="0"/>
                <a:ea typeface="Geist" pitchFamily="34" charset="-122"/>
                <a:cs typeface="Geis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11"/>
            <a:ext cx="10566400" cy="4084389"/>
          </a:xfrm>
          <a:prstGeom prst="rect">
            <a:avLst/>
          </a:prstGeom>
          <a:noFill/>
          <a:ln/>
        </p:spPr>
        <p:txBody>
          <a:bodyPr wrap="square" lIns="0" tIns="0" rIns="0" bIns="0" rtlCol="0" anchor="t"/>
          <a:lstStyle>
            <a:lvl1pPr algn="l" indent="0" marL="0">
              <a:lnSpc>
                <a:spcPct val="140000"/>
              </a:lnSpc>
              <a:buNone/>
              <a:defRPr lang="en-US" sz="1600" dirty="0">
                <a:solidFill>
                  <a:srgbClr val="0B191E"/>
                </a:solidFill>
                <a:latin typeface="Geist" pitchFamily="34" charset="0"/>
                <a:ea typeface="Geist" pitchFamily="34" charset="-122"/>
                <a:cs typeface="Geis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91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F1F6F2"/>
                </a:solidFill>
                <a:latin typeface="Geist" pitchFamily="34" charset="0"/>
                <a:ea typeface="Geist" pitchFamily="34" charset="-122"/>
                <a:cs typeface="Geist"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811"/>
            <a:ext cx="10566400" cy="4084389"/>
          </a:xfrm>
          <a:prstGeom prst="rect">
            <a:avLst/>
          </a:prstGeom>
          <a:noFill/>
          <a:ln/>
        </p:spPr>
        <p:txBody>
          <a:bodyPr wrap="square" lIns="0" tIns="0" rIns="0" bIns="0" rtlCol="0" anchor="t"/>
          <a:lstStyle>
            <a:lvl1pPr algn="l" indent="0" marL="0">
              <a:lnSpc>
                <a:spcPct val="140000"/>
              </a:lnSpc>
              <a:buNone/>
              <a:defRPr lang="en-US" sz="1600" dirty="0">
                <a:solidFill>
                  <a:srgbClr val="F1F6F2"/>
                </a:solidFill>
                <a:latin typeface="Geist" pitchFamily="34" charset="0"/>
                <a:ea typeface="Geist" pitchFamily="34" charset="-122"/>
                <a:cs typeface="Geist"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1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35000"/>
          </a:blip>
          <a:srcRect l="0" r="0"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B191E"/>
              </a:gs>
              <a:gs pos="45000">
                <a:srgbClr val="0B191E">
                  <a:alpha val="94000"/>
                </a:srgbClr>
              </a:gs>
              <a:gs pos="100000">
                <a:srgbClr val="0B191E">
                  <a:alpha val="55000"/>
                </a:srgbClr>
              </a:gs>
            </a:gsLst>
            <a:lin ang="0" scaled="0"/>
          </a:gradFill>
          <a:ln/>
        </p:spPr>
      </p:sp>
      <p:pic>
        <p:nvPicPr>
          <p:cNvPr id="4" name="Image 1" descr="web embed">    </p:cNvPr>
          <p:cNvPicPr>
            <a:picLocks noChangeAspect="1"/>
          </p:cNvPicPr>
          <p:nvPr/>
        </p:nvPicPr>
        <p:blipFill>
          <a:blip r:embed="rId2"/>
          <a:srcRect l="0" r="0" t="0" b="0"/>
          <a:stretch/>
        </p:blipFill>
        <p:spPr>
          <a:xfrm>
            <a:off x="6985000" y="952500"/>
            <a:ext cx="4572000" cy="4572000"/>
          </a:xfrm>
          <a:prstGeom prst="rect">
            <a:avLst/>
          </a:prstGeom>
        </p:spPr>
      </p:pic>
      <p:sp>
        <p:nvSpPr>
          <p:cNvPr id="5" name="Text 1"/>
          <p:cNvSpPr/>
          <p:nvPr/>
        </p:nvSpPr>
        <p:spPr>
          <a:xfrm>
            <a:off x="812800" y="171450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SMART RECYCLING ASSISTANT · PS06</a:t>
            </a:r>
            <a:endParaRPr lang="en-US" sz="1200" dirty="0"/>
          </a:p>
        </p:txBody>
      </p:sp>
      <p:sp>
        <p:nvSpPr>
          <p:cNvPr id="6" name="Text 2"/>
          <p:cNvSpPr/>
          <p:nvPr>
            <p:ph type="title"/>
          </p:nvPr>
        </p:nvSpPr>
        <p:spPr>
          <a:xfrm>
            <a:off x="812800" y="2032000"/>
            <a:ext cx="6540500" cy="1295400"/>
          </a:xfrm>
          <a:prstGeom prst="rect">
            <a:avLst/>
          </a:prstGeom>
          <a:noFill/>
          <a:ln/>
        </p:spPr>
        <p:txBody>
          <a:bodyPr wrap="square" lIns="0" tIns="0" rIns="0" bIns="0" rtlCol="0" anchor="t">
            <a:normAutofit/>
          </a:bodyPr>
          <a:lstStyle/>
          <a:p>
            <a:pPr algn="l" indent="0" marL="0">
              <a:lnSpc>
                <a:spcPts val="10000"/>
              </a:lnSpc>
              <a:buNone/>
            </a:pPr>
            <a:r>
              <a:rPr lang="en-US" sz="10000" b="1" i="0" spc="-400" kern="0" dirty="0">
                <a:solidFill>
                  <a:srgbClr val="F1F6F2"/>
                </a:solidFill>
                <a:latin typeface="Geist" pitchFamily="34" charset="0"/>
                <a:ea typeface="Geist" pitchFamily="34" charset="-122"/>
                <a:cs typeface="Geist" pitchFamily="34" charset="-120"/>
              </a:rPr>
              <a:t>EcoLoop</a:t>
            </a:r>
            <a:endParaRPr lang="en-US" sz="10000" dirty="0"/>
          </a:p>
        </p:txBody>
      </p:sp>
      <p:sp>
        <p:nvSpPr>
          <p:cNvPr id="7" name="Text 3"/>
          <p:cNvSpPr/>
          <p:nvPr/>
        </p:nvSpPr>
        <p:spPr>
          <a:xfrm>
            <a:off x="812800" y="3460750"/>
            <a:ext cx="6409690" cy="612130"/>
          </a:xfrm>
          <a:prstGeom prst="rect">
            <a:avLst/>
          </a:prstGeom>
          <a:noFill/>
          <a:ln/>
        </p:spPr>
        <p:txBody>
          <a:bodyPr wrap="square" lIns="0" tIns="0" rIns="0" bIns="0" rtlCol="0" anchor="t">
            <a:normAutofit/>
          </a:bodyPr>
          <a:lstStyle/>
          <a:p>
            <a:pPr algn="l" indent="0" marL="0">
              <a:lnSpc>
                <a:spcPts val="4620"/>
              </a:lnSpc>
              <a:buNone/>
            </a:pPr>
            <a:r>
              <a:rPr lang="en-US" sz="4400" i="1" dirty="0">
                <a:solidFill>
                  <a:srgbClr val="86D028"/>
                </a:solidFill>
                <a:latin typeface="Instrument Serif" pitchFamily="18" charset="0"/>
                <a:ea typeface="Instrument Serif" pitchFamily="18" charset="-122"/>
                <a:cs typeface="Instrument Serif" pitchFamily="18" charset="-120"/>
              </a:rPr>
              <a:t>Every item back into the loop.</a:t>
            </a:r>
            <a:endParaRPr lang="en-US" sz="4400" dirty="0"/>
          </a:p>
        </p:txBody>
      </p:sp>
      <p:sp>
        <p:nvSpPr>
          <p:cNvPr id="8" name="Text 4"/>
          <p:cNvSpPr/>
          <p:nvPr/>
        </p:nvSpPr>
        <p:spPr>
          <a:xfrm>
            <a:off x="812800" y="4826000"/>
            <a:ext cx="588645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0CB"/>
                </a:solidFill>
                <a:latin typeface="Geist" pitchFamily="34" charset="0"/>
                <a:ea typeface="Geist" pitchFamily="34" charset="-122"/>
                <a:cs typeface="Geist" pitchFamily="34" charset="-120"/>
              </a:rPr>
              <a:t>AI that sorts every item in one photo, tracks where it really goes, and coaches people to recycle better.</a:t>
            </a:r>
            <a:endParaRPr lang="en-US" sz="1600" dirty="0"/>
          </a:p>
        </p:txBody>
      </p:sp>
      <p:sp>
        <p:nvSpPr>
          <p:cNvPr id="9"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B0AA"/>
                </a:solidFill>
                <a:latin typeface="Geist" pitchFamily="34" charset="0"/>
                <a:ea typeface="Geist" pitchFamily="34" charset="-122"/>
                <a:cs typeface="Geist" pitchFamily="34" charset="-120"/>
              </a:rPr>
              <a:t>Suzuka · CBIT Kolar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91E"/>
        </a:solidFill>
      </p:bgPr>
    </p:bg>
    <p:spTree>
      <p:nvGrpSpPr>
        <p:cNvPr id="1" name=""/>
        <p:cNvGrpSpPr/>
        <p:nvPr/>
      </p:nvGrpSpPr>
      <p:grpSpPr>
        <a:xfrm>
          <a:off x="0" y="0"/>
          <a:ext cx="0" cy="0"/>
          <a:chOff x="0" y="0"/>
          <a:chExt cx="0" cy="0"/>
        </a:xfrm>
      </p:grpSpPr>
      <p:sp>
        <p:nvSpPr>
          <p:cNvPr id="2" name="Shape 0"/>
          <p:cNvSpPr/>
          <p:nvPr/>
        </p:nvSpPr>
        <p:spPr>
          <a:xfrm>
            <a:off x="0" y="1143000"/>
            <a:ext cx="5715000" cy="5715000"/>
          </a:xfrm>
          <a:prstGeom prst="roundRect">
            <a:avLst>
              <a:gd name="adj" fmla="val 28444"/>
            </a:avLst>
          </a:prstGeom>
          <a:gradFill rotWithShape="1">
            <a:gsLst>
              <a:gs pos="0">
                <a:srgbClr val="86D028">
                  <a:alpha val="16000"/>
                </a:srgbClr>
              </a:gs>
              <a:gs pos="70000">
                <a:srgbClr val="86D028">
                  <a:alpha val="0"/>
                </a:srgbClr>
              </a:gs>
            </a:gsLst>
            <a:path path="circle">
              <a:fillToRect l="50000" t="50000" r="50000" b="50000"/>
            </a:path>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THE PROBLEM</a:t>
            </a:r>
            <a:endParaRPr lang="en-US" sz="1200" dirty="0"/>
          </a:p>
        </p:txBody>
      </p:sp>
      <p:sp>
        <p:nvSpPr>
          <p:cNvPr id="4" name="Text 2"/>
          <p:cNvSpPr/>
          <p:nvPr/>
        </p:nvSpPr>
        <p:spPr>
          <a:xfrm>
            <a:off x="812800" y="1587500"/>
            <a:ext cx="4970780" cy="2082800"/>
          </a:xfrm>
          <a:prstGeom prst="rect">
            <a:avLst/>
          </a:prstGeom>
          <a:noFill/>
          <a:ln/>
        </p:spPr>
        <p:txBody>
          <a:bodyPr wrap="square" lIns="0" tIns="0" rIns="0" bIns="0" rtlCol="0" anchor="t">
            <a:normAutofit/>
          </a:bodyPr>
          <a:lstStyle/>
          <a:p>
            <a:pPr algn="l" indent="0" marL="0">
              <a:lnSpc>
                <a:spcPts val="16200"/>
              </a:lnSpc>
              <a:buNone/>
            </a:pPr>
            <a:r>
              <a:rPr lang="en-US" sz="18000" b="1" spc="-800" kern="0" dirty="0">
                <a:solidFill>
                  <a:srgbClr val="86D028"/>
                </a:solidFill>
                <a:latin typeface="Geist" pitchFamily="34" charset="0"/>
                <a:ea typeface="Geist" pitchFamily="34" charset="-122"/>
                <a:cs typeface="Geist" pitchFamily="34" charset="-120"/>
              </a:rPr>
              <a:t>9%</a:t>
            </a:r>
            <a:endParaRPr lang="en-US" sz="18000" dirty="0"/>
          </a:p>
        </p:txBody>
      </p:sp>
      <p:sp>
        <p:nvSpPr>
          <p:cNvPr id="5" name="Text 3"/>
          <p:cNvSpPr/>
          <p:nvPr/>
        </p:nvSpPr>
        <p:spPr>
          <a:xfrm>
            <a:off x="812800" y="3810000"/>
            <a:ext cx="470916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F1F6F2"/>
                </a:solidFill>
                <a:latin typeface="Geist" pitchFamily="34" charset="0"/>
                <a:ea typeface="Geist" pitchFamily="34" charset="-122"/>
                <a:cs typeface="Geist" pitchFamily="34" charset="-120"/>
              </a:rPr>
              <a:t>of the world’s plastic waste is actually recycled.</a:t>
            </a:r>
            <a:endParaRPr lang="en-US" sz="2200" dirty="0"/>
          </a:p>
        </p:txBody>
      </p:sp>
      <p:sp>
        <p:nvSpPr>
          <p:cNvPr id="6" name="Shape 4"/>
          <p:cNvSpPr/>
          <p:nvPr/>
        </p:nvSpPr>
        <p:spPr>
          <a:xfrm>
            <a:off x="6505575" y="1209675"/>
            <a:ext cx="4870450" cy="1390650"/>
          </a:xfrm>
          <a:prstGeom prst="roundRect">
            <a:avLst>
              <a:gd name="adj" fmla="val 10731"/>
            </a:avLst>
          </a:prstGeom>
          <a:solidFill>
            <a:srgbClr val="12262C"/>
          </a:solidFill>
          <a:ln w="6350">
            <a:solidFill>
              <a:srgbClr val="23393F"/>
            </a:solidFill>
            <a:prstDash val="solid"/>
          </a:ln>
        </p:spPr>
      </p:sp>
      <p:sp>
        <p:nvSpPr>
          <p:cNvPr id="7" name="Text 5"/>
          <p:cNvSpPr/>
          <p:nvPr/>
        </p:nvSpPr>
        <p:spPr>
          <a:xfrm>
            <a:off x="6711950" y="1416050"/>
            <a:ext cx="4591431" cy="431800"/>
          </a:xfrm>
          <a:prstGeom prst="rect">
            <a:avLst/>
          </a:prstGeom>
          <a:noFill/>
          <a:ln/>
        </p:spPr>
        <p:txBody>
          <a:bodyPr wrap="square" lIns="0" tIns="0" rIns="0" bIns="0" rtlCol="0" anchor="t">
            <a:normAutofit/>
          </a:bodyPr>
          <a:lstStyle/>
          <a:p>
            <a:pPr algn="l" indent="0" marL="0">
              <a:lnSpc>
                <a:spcPts val="3200"/>
              </a:lnSpc>
              <a:buNone/>
            </a:pPr>
            <a:r>
              <a:rPr lang="en-US" sz="3200" b="1" spc="-150" kern="0" dirty="0">
                <a:solidFill>
                  <a:srgbClr val="F1F6F2"/>
                </a:solidFill>
                <a:latin typeface="Geist" pitchFamily="34" charset="0"/>
                <a:ea typeface="Geist" pitchFamily="34" charset="-122"/>
                <a:cs typeface="Geist" pitchFamily="34" charset="-120"/>
              </a:rPr>
              <a:t>460 Mt</a:t>
            </a:r>
            <a:endParaRPr lang="en-US" sz="3200" dirty="0"/>
          </a:p>
        </p:txBody>
      </p:sp>
      <p:sp>
        <p:nvSpPr>
          <p:cNvPr id="8" name="Text 6"/>
          <p:cNvSpPr/>
          <p:nvPr/>
        </p:nvSpPr>
        <p:spPr>
          <a:xfrm>
            <a:off x="6711950" y="1873250"/>
            <a:ext cx="459143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B0AA"/>
                </a:solidFill>
                <a:latin typeface="Geist" pitchFamily="34" charset="0"/>
                <a:ea typeface="Geist" pitchFamily="34" charset="-122"/>
                <a:cs typeface="Geist" pitchFamily="34" charset="-120"/>
              </a:rPr>
              <a:t>of plastic produced in 2019, double the 2000 level</a:t>
            </a:r>
            <a:endParaRPr lang="en-US" sz="1400" dirty="0"/>
          </a:p>
        </p:txBody>
      </p:sp>
      <p:sp>
        <p:nvSpPr>
          <p:cNvPr id="9" name="Shape 7"/>
          <p:cNvSpPr/>
          <p:nvPr/>
        </p:nvSpPr>
        <p:spPr>
          <a:xfrm>
            <a:off x="6505575" y="2733675"/>
            <a:ext cx="4870450" cy="1390650"/>
          </a:xfrm>
          <a:prstGeom prst="roundRect">
            <a:avLst>
              <a:gd name="adj" fmla="val 10731"/>
            </a:avLst>
          </a:prstGeom>
          <a:solidFill>
            <a:srgbClr val="12262C"/>
          </a:solidFill>
          <a:ln w="6350">
            <a:solidFill>
              <a:srgbClr val="23393F"/>
            </a:solidFill>
            <a:prstDash val="solid"/>
          </a:ln>
        </p:spPr>
      </p:sp>
      <p:sp>
        <p:nvSpPr>
          <p:cNvPr id="10" name="Text 8"/>
          <p:cNvSpPr/>
          <p:nvPr/>
        </p:nvSpPr>
        <p:spPr>
          <a:xfrm>
            <a:off x="6711950" y="2940050"/>
            <a:ext cx="4591431" cy="431800"/>
          </a:xfrm>
          <a:prstGeom prst="rect">
            <a:avLst/>
          </a:prstGeom>
          <a:noFill/>
          <a:ln/>
        </p:spPr>
        <p:txBody>
          <a:bodyPr wrap="square" lIns="0" tIns="0" rIns="0" bIns="0" rtlCol="0" anchor="t">
            <a:normAutofit/>
          </a:bodyPr>
          <a:lstStyle/>
          <a:p>
            <a:pPr algn="l" indent="0" marL="0">
              <a:lnSpc>
                <a:spcPts val="3200"/>
              </a:lnSpc>
              <a:buNone/>
            </a:pPr>
            <a:r>
              <a:rPr lang="en-US" sz="3200" b="1" spc="-150" kern="0" dirty="0">
                <a:solidFill>
                  <a:srgbClr val="F1F6F2"/>
                </a:solidFill>
                <a:latin typeface="Geist" pitchFamily="34" charset="0"/>
                <a:ea typeface="Geist" pitchFamily="34" charset="-122"/>
                <a:cs typeface="Geist" pitchFamily="34" charset="-120"/>
              </a:rPr>
              <a:t>22%</a:t>
            </a:r>
            <a:endParaRPr lang="en-US" sz="3200" dirty="0"/>
          </a:p>
        </p:txBody>
      </p:sp>
      <p:sp>
        <p:nvSpPr>
          <p:cNvPr id="11" name="Text 9"/>
          <p:cNvSpPr/>
          <p:nvPr/>
        </p:nvSpPr>
        <p:spPr>
          <a:xfrm>
            <a:off x="6711950" y="3397250"/>
            <a:ext cx="459143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B0AA"/>
                </a:solidFill>
                <a:latin typeface="Geist" pitchFamily="34" charset="0"/>
                <a:ea typeface="Geist" pitchFamily="34" charset="-122"/>
                <a:cs typeface="Geist" pitchFamily="34" charset="-120"/>
              </a:rPr>
              <a:t>mismanaged: dumped, burned in the open or leaked into nature</a:t>
            </a:r>
            <a:endParaRPr lang="en-US" sz="1400" dirty="0"/>
          </a:p>
        </p:txBody>
      </p:sp>
      <p:sp>
        <p:nvSpPr>
          <p:cNvPr id="12" name="Shape 10"/>
          <p:cNvSpPr/>
          <p:nvPr/>
        </p:nvSpPr>
        <p:spPr>
          <a:xfrm>
            <a:off x="6505575" y="4257675"/>
            <a:ext cx="4870450" cy="1390650"/>
          </a:xfrm>
          <a:prstGeom prst="roundRect">
            <a:avLst>
              <a:gd name="adj" fmla="val 10731"/>
            </a:avLst>
          </a:prstGeom>
          <a:solidFill>
            <a:srgbClr val="12262C"/>
          </a:solidFill>
          <a:ln w="6350">
            <a:solidFill>
              <a:srgbClr val="23393F"/>
            </a:solidFill>
            <a:prstDash val="solid"/>
          </a:ln>
        </p:spPr>
      </p:sp>
      <p:sp>
        <p:nvSpPr>
          <p:cNvPr id="13" name="Text 11"/>
          <p:cNvSpPr/>
          <p:nvPr/>
        </p:nvSpPr>
        <p:spPr>
          <a:xfrm>
            <a:off x="6711950" y="4464050"/>
            <a:ext cx="4591431" cy="431800"/>
          </a:xfrm>
          <a:prstGeom prst="rect">
            <a:avLst/>
          </a:prstGeom>
          <a:noFill/>
          <a:ln/>
        </p:spPr>
        <p:txBody>
          <a:bodyPr wrap="square" lIns="0" tIns="0" rIns="0" bIns="0" rtlCol="0" anchor="t">
            <a:normAutofit/>
          </a:bodyPr>
          <a:lstStyle/>
          <a:p>
            <a:pPr algn="l" indent="0" marL="0">
              <a:lnSpc>
                <a:spcPts val="3200"/>
              </a:lnSpc>
              <a:buNone/>
            </a:pPr>
            <a:r>
              <a:rPr lang="en-US" sz="3200" b="1" spc="-150" kern="0" dirty="0">
                <a:solidFill>
                  <a:srgbClr val="F1F6F2"/>
                </a:solidFill>
                <a:latin typeface="Geist" pitchFamily="34" charset="0"/>
                <a:ea typeface="Geist" pitchFamily="34" charset="-122"/>
                <a:cs typeface="Geist" pitchFamily="34" charset="-120"/>
              </a:rPr>
              <a:t>11 Mt</a:t>
            </a:r>
            <a:endParaRPr lang="en-US" sz="3200" dirty="0"/>
          </a:p>
        </p:txBody>
      </p:sp>
      <p:sp>
        <p:nvSpPr>
          <p:cNvPr id="14" name="Text 12"/>
          <p:cNvSpPr/>
          <p:nvPr/>
        </p:nvSpPr>
        <p:spPr>
          <a:xfrm>
            <a:off x="6711950" y="4921250"/>
            <a:ext cx="459143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B0AA"/>
                </a:solidFill>
                <a:latin typeface="Geist" pitchFamily="34" charset="0"/>
                <a:ea typeface="Geist" pitchFamily="34" charset="-122"/>
                <a:cs typeface="Geist" pitchFamily="34" charset="-120"/>
              </a:rPr>
              <a:t>of plastic enters the ocean every year</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A84"/>
                </a:solidFill>
                <a:latin typeface="Geist" pitchFamily="34" charset="0"/>
                <a:ea typeface="Geist" pitchFamily="34" charset="-122"/>
                <a:cs typeface="Geist" pitchFamily="34" charset="-120"/>
              </a:rPr>
              <a:t>Sources: OECD Global Plastics Outlook (2022, 2019 data); Pew, Breaking the Plastic Wave (2020)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INDIA</a:t>
            </a:r>
            <a:endParaRPr lang="en-US" sz="1200" dirty="0"/>
          </a:p>
        </p:txBody>
      </p:sp>
      <p:sp>
        <p:nvSpPr>
          <p:cNvPr id="3" name="Text 1"/>
          <p:cNvSpPr/>
          <p:nvPr>
            <p:ph type="title"/>
          </p:nvPr>
        </p:nvSpPr>
        <p:spPr>
          <a:xfrm>
            <a:off x="812800" y="1153120"/>
            <a:ext cx="9810750" cy="1534071"/>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India emits </a:t>
            </a:r>
            <a:r>
              <a:rPr lang="en-US" sz="3600" b="1" i="0" spc="-100" kern="0" dirty="0">
                <a:solidFill>
                  <a:srgbClr val="86D028"/>
                </a:solidFill>
                <a:latin typeface="Geist" pitchFamily="34" charset="0"/>
                <a:ea typeface="Geist" pitchFamily="34" charset="-122"/>
                <a:cs typeface="Geist" pitchFamily="34" charset="-120"/>
              </a:rPr>
              <a:t>9.3 million tonnes</a:t>
            </a:r>
            <a:r>
              <a:rPr lang="en-US" sz="3600" b="1" i="0" spc="-100" kern="0" dirty="0">
                <a:solidFill>
                  <a:srgbClr val="F1F6F2"/>
                </a:solidFill>
                <a:latin typeface="Geist" pitchFamily="34" charset="0"/>
                <a:ea typeface="Geist" pitchFamily="34" charset="-122"/>
                <a:cs typeface="Geist" pitchFamily="34" charset="-120"/>
              </a:rPr>
              <a:t> of plastic pollution a year, about a fifth of the world’s total.</a:t>
            </a:r>
            <a:endParaRPr lang="en-US" sz="3600" dirty="0"/>
          </a:p>
        </p:txBody>
      </p:sp>
      <p:sp>
        <p:nvSpPr>
          <p:cNvPr id="4" name="Shape 2"/>
          <p:cNvSpPr/>
          <p:nvPr/>
        </p:nvSpPr>
        <p:spPr>
          <a:xfrm>
            <a:off x="815975" y="3020566"/>
            <a:ext cx="3380284" cy="1780381"/>
          </a:xfrm>
          <a:prstGeom prst="roundRect">
            <a:avLst>
              <a:gd name="adj" fmla="val 8382"/>
            </a:avLst>
          </a:prstGeom>
          <a:solidFill>
            <a:srgbClr val="152D34"/>
          </a:solidFill>
          <a:ln w="6350">
            <a:solidFill>
              <a:srgbClr val="27424A"/>
            </a:solidFill>
            <a:prstDash val="solid"/>
          </a:ln>
        </p:spPr>
      </p:sp>
      <p:sp>
        <p:nvSpPr>
          <p:cNvPr id="5" name="Text 3"/>
          <p:cNvSpPr/>
          <p:nvPr/>
        </p:nvSpPr>
        <p:spPr>
          <a:xfrm>
            <a:off x="1073150" y="3277741"/>
            <a:ext cx="29519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6D028"/>
                </a:solidFill>
                <a:latin typeface="Geist" pitchFamily="34" charset="0"/>
                <a:ea typeface="Geist" pitchFamily="34" charset="-122"/>
                <a:cs typeface="Geist" pitchFamily="34" charset="-120"/>
              </a:rPr>
              <a:t>Uncollected</a:t>
            </a:r>
            <a:endParaRPr lang="en-US" sz="2200" dirty="0"/>
          </a:p>
        </p:txBody>
      </p:sp>
      <p:sp>
        <p:nvSpPr>
          <p:cNvPr id="6" name="Text 4"/>
          <p:cNvSpPr/>
          <p:nvPr/>
        </p:nvSpPr>
        <p:spPr>
          <a:xfrm>
            <a:off x="1073150" y="3770461"/>
            <a:ext cx="295191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Most of it is waste that is never collected and ends up dumped or burned.</a:t>
            </a:r>
            <a:endParaRPr lang="en-US" sz="1400" dirty="0"/>
          </a:p>
        </p:txBody>
      </p:sp>
      <p:sp>
        <p:nvSpPr>
          <p:cNvPr id="7" name="Shape 5"/>
          <p:cNvSpPr/>
          <p:nvPr/>
        </p:nvSpPr>
        <p:spPr>
          <a:xfrm>
            <a:off x="4405809" y="3020566"/>
            <a:ext cx="3380333" cy="1780381"/>
          </a:xfrm>
          <a:prstGeom prst="roundRect">
            <a:avLst>
              <a:gd name="adj" fmla="val 8382"/>
            </a:avLst>
          </a:prstGeom>
          <a:solidFill>
            <a:srgbClr val="152D34"/>
          </a:solidFill>
          <a:ln w="6350">
            <a:solidFill>
              <a:srgbClr val="27424A"/>
            </a:solidFill>
            <a:prstDash val="solid"/>
          </a:ln>
        </p:spPr>
      </p:sp>
      <p:sp>
        <p:nvSpPr>
          <p:cNvPr id="8" name="Text 6"/>
          <p:cNvSpPr/>
          <p:nvPr/>
        </p:nvSpPr>
        <p:spPr>
          <a:xfrm>
            <a:off x="4662984" y="3277741"/>
            <a:ext cx="295196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6D028"/>
                </a:solidFill>
                <a:latin typeface="Geist" pitchFamily="34" charset="0"/>
                <a:ea typeface="Geist" pitchFamily="34" charset="-122"/>
                <a:cs typeface="Geist" pitchFamily="34" charset="-120"/>
              </a:rPr>
              <a:t>3 bins by law</a:t>
            </a:r>
            <a:endParaRPr lang="en-US" sz="2200" dirty="0"/>
          </a:p>
        </p:txBody>
      </p:sp>
      <p:sp>
        <p:nvSpPr>
          <p:cNvPr id="9" name="Text 7"/>
          <p:cNvSpPr/>
          <p:nvPr/>
        </p:nvSpPr>
        <p:spPr>
          <a:xfrm>
            <a:off x="4662984" y="3770461"/>
            <a:ext cx="295196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Since the SWM Rules 2016, homes must separate wet, dry and hazardous waste.</a:t>
            </a:r>
            <a:endParaRPr lang="en-US" sz="1400" dirty="0"/>
          </a:p>
        </p:txBody>
      </p:sp>
      <p:sp>
        <p:nvSpPr>
          <p:cNvPr id="10" name="Shape 8"/>
          <p:cNvSpPr/>
          <p:nvPr/>
        </p:nvSpPr>
        <p:spPr>
          <a:xfrm>
            <a:off x="7995692" y="3020566"/>
            <a:ext cx="3380284" cy="1780381"/>
          </a:xfrm>
          <a:prstGeom prst="roundRect">
            <a:avLst>
              <a:gd name="adj" fmla="val 8382"/>
            </a:avLst>
          </a:prstGeom>
          <a:solidFill>
            <a:srgbClr val="152D34"/>
          </a:solidFill>
          <a:ln w="6350">
            <a:solidFill>
              <a:srgbClr val="27424A"/>
            </a:solidFill>
            <a:prstDash val="solid"/>
          </a:ln>
        </p:spPr>
      </p:sp>
      <p:sp>
        <p:nvSpPr>
          <p:cNvPr id="11" name="Text 9"/>
          <p:cNvSpPr/>
          <p:nvPr/>
        </p:nvSpPr>
        <p:spPr>
          <a:xfrm>
            <a:off x="8252867" y="3277741"/>
            <a:ext cx="29519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6D028"/>
                </a:solidFill>
                <a:latin typeface="Geist" pitchFamily="34" charset="0"/>
                <a:ea typeface="Geist" pitchFamily="34" charset="-122"/>
                <a:cs typeface="Geist" pitchFamily="34" charset="-120"/>
              </a:rPr>
              <a:t>19 items banned</a:t>
            </a:r>
            <a:endParaRPr lang="en-US" sz="2200" dirty="0"/>
          </a:p>
        </p:txBody>
      </p:sp>
      <p:sp>
        <p:nvSpPr>
          <p:cNvPr id="12" name="Text 10"/>
          <p:cNvSpPr/>
          <p:nvPr/>
        </p:nvSpPr>
        <p:spPr>
          <a:xfrm>
            <a:off x="8252867" y="3770461"/>
            <a:ext cx="295191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Single-use plastics like straws and cutlery, banned since July 2022.</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A84"/>
                </a:solidFill>
                <a:latin typeface="Geist" pitchFamily="34" charset="0"/>
                <a:ea typeface="Geist" pitchFamily="34" charset="-122"/>
                <a:cs typeface="Geist" pitchFamily="34" charset="-120"/>
              </a:rPr>
              <a:t>Sources: Cottom et al., Nature (2024); Solid Waste Management Rules, 2016; Government of India SUP ban (2022)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4D7A12"/>
                </a:solidFill>
                <a:latin typeface="Geist" pitchFamily="34" charset="0"/>
                <a:ea typeface="Geist" pitchFamily="34" charset="-122"/>
                <a:cs typeface="Geist" pitchFamily="34" charset="-120"/>
              </a:rPr>
              <a:t>THE REAL GAP</a:t>
            </a:r>
            <a:endParaRPr lang="en-US" sz="1200" dirty="0"/>
          </a:p>
        </p:txBody>
      </p:sp>
      <p:sp>
        <p:nvSpPr>
          <p:cNvPr id="3" name="Text 1"/>
          <p:cNvSpPr/>
          <p:nvPr>
            <p:ph type="title"/>
          </p:nvPr>
        </p:nvSpPr>
        <p:spPr>
          <a:xfrm>
            <a:off x="812800" y="1330920"/>
            <a:ext cx="10137775" cy="1945580"/>
          </a:xfrm>
          <a:prstGeom prst="rect">
            <a:avLst/>
          </a:prstGeom>
          <a:noFill/>
          <a:ln/>
        </p:spPr>
        <p:txBody>
          <a:bodyPr wrap="square" lIns="0" tIns="0" rIns="0" bIns="0" rtlCol="0" anchor="t">
            <a:normAutofit/>
          </a:bodyPr>
          <a:lstStyle/>
          <a:p>
            <a:pPr algn="l" indent="0" marL="0">
              <a:lnSpc>
                <a:spcPts val="5040"/>
              </a:lnSpc>
              <a:buNone/>
            </a:pPr>
            <a:r>
              <a:rPr lang="en-US" sz="4800" b="1" i="0" spc="-200" kern="0" dirty="0">
                <a:solidFill>
                  <a:srgbClr val="0B191E"/>
                </a:solidFill>
                <a:latin typeface="Geist" pitchFamily="34" charset="0"/>
                <a:ea typeface="Geist" pitchFamily="34" charset="-122"/>
                <a:cs typeface="Geist" pitchFamily="34" charset="-120"/>
              </a:rPr>
              <a:t>The problem isn’t bins. </a:t>
            </a:r>
            <a:r>
              <a:rPr lang="en-US" sz="4800" b="1" i="0" spc="-200" kern="0" dirty="0">
                <a:solidFill>
                  <a:srgbClr val="4D7A12"/>
                </a:solidFill>
                <a:latin typeface="Geist" pitchFamily="34" charset="0"/>
                <a:ea typeface="Geist" pitchFamily="34" charset="-122"/>
                <a:cs typeface="Geist" pitchFamily="34" charset="-120"/>
              </a:rPr>
              <a:t>It’s the moment someone stands in front of one.</a:t>
            </a:r>
            <a:endParaRPr lang="en-US" sz="4800" dirty="0"/>
          </a:p>
        </p:txBody>
      </p:sp>
      <p:sp>
        <p:nvSpPr>
          <p:cNvPr id="4" name="Text 2"/>
          <p:cNvSpPr/>
          <p:nvPr/>
        </p:nvSpPr>
        <p:spPr>
          <a:xfrm>
            <a:off x="812800" y="4572000"/>
            <a:ext cx="3175000" cy="645120"/>
          </a:xfrm>
          <a:prstGeom prst="roundRect">
            <a:avLst>
              <a:gd name="adj" fmla="val 50000"/>
            </a:avLst>
          </a:prstGeom>
          <a:solidFill>
            <a:srgbClr val="E2ECE8"/>
          </a:solidFill>
          <a:ln/>
          <a:effectLst>
            <a:outerShdw sx="100000" sy="100000" kx="0" ky="0" algn="bl" rotWithShape="0" blurRad="203200" dist="76200" dir="5400000">
              <a:srgbClr val="0B191E">
                <a:alpha val="10000"/>
              </a:srgbClr>
            </a:outerShdw>
          </a:effectLst>
        </p:spPr>
        <p:txBody>
          <a:bodyPr wrap="square" lIns="14872" tIns="32525" rIns="14872" bIns="7125" rtlCol="0" anchor="t">
            <a:normAutofit/>
          </a:bodyPr>
          <a:lstStyle/>
          <a:p>
            <a:pPr algn="ctr" indent="0" marL="0">
              <a:lnSpc>
                <a:spcPts val="3080"/>
              </a:lnSpc>
              <a:buNone/>
            </a:pPr>
            <a:r>
              <a:rPr lang="en-US" sz="2200" i="1" dirty="0">
                <a:solidFill>
                  <a:srgbClr val="0B191E"/>
                </a:solidFill>
                <a:latin typeface="Instrument Serif" pitchFamily="18" charset="0"/>
                <a:ea typeface="Instrument Serif" pitchFamily="18" charset="-122"/>
                <a:cs typeface="Instrument Serif" pitchFamily="18" charset="-120"/>
              </a:rPr>
              <a:t>“Is this recyclable?”</a:t>
            </a:r>
            <a:endParaRPr lang="en-US" sz="2200" dirty="0"/>
          </a:p>
        </p:txBody>
      </p:sp>
      <p:sp>
        <p:nvSpPr>
          <p:cNvPr id="5" name="Text 3"/>
          <p:cNvSpPr/>
          <p:nvPr/>
        </p:nvSpPr>
        <p:spPr>
          <a:xfrm>
            <a:off x="4140200" y="4572000"/>
            <a:ext cx="3048000" cy="645120"/>
          </a:xfrm>
          <a:prstGeom prst="roundRect">
            <a:avLst>
              <a:gd name="adj" fmla="val 50000"/>
            </a:avLst>
          </a:prstGeom>
          <a:solidFill>
            <a:srgbClr val="E2ECE8"/>
          </a:solidFill>
          <a:ln/>
          <a:effectLst>
            <a:outerShdw sx="100000" sy="100000" kx="0" ky="0" algn="bl" rotWithShape="0" blurRad="203200" dist="76200" dir="5400000">
              <a:srgbClr val="0B191E">
                <a:alpha val="10000"/>
              </a:srgbClr>
            </a:outerShdw>
          </a:effectLst>
        </p:spPr>
        <p:txBody>
          <a:bodyPr wrap="square" lIns="16777" tIns="32525" rIns="16777" bIns="7125" rtlCol="0" anchor="t">
            <a:normAutofit/>
          </a:bodyPr>
          <a:lstStyle/>
          <a:p>
            <a:pPr algn="ctr" indent="0" marL="0">
              <a:lnSpc>
                <a:spcPts val="3080"/>
              </a:lnSpc>
              <a:buNone/>
            </a:pPr>
            <a:r>
              <a:rPr lang="en-US" sz="2200" i="1" dirty="0">
                <a:solidFill>
                  <a:srgbClr val="0B191E"/>
                </a:solidFill>
                <a:latin typeface="Instrument Serif" pitchFamily="18" charset="0"/>
                <a:ea typeface="Instrument Serif" pitchFamily="18" charset="-122"/>
                <a:cs typeface="Instrument Serif" pitchFamily="18" charset="-120"/>
              </a:rPr>
              <a:t>“Is it clean enough?”</a:t>
            </a:r>
            <a:endParaRPr lang="en-US" sz="2200" dirty="0"/>
          </a:p>
        </p:txBody>
      </p:sp>
      <p:sp>
        <p:nvSpPr>
          <p:cNvPr id="6" name="Text 4"/>
          <p:cNvSpPr/>
          <p:nvPr/>
        </p:nvSpPr>
        <p:spPr>
          <a:xfrm>
            <a:off x="7340600" y="4572000"/>
            <a:ext cx="4038600" cy="645120"/>
          </a:xfrm>
          <a:prstGeom prst="roundRect">
            <a:avLst>
              <a:gd name="adj" fmla="val 50000"/>
            </a:avLst>
          </a:prstGeom>
          <a:solidFill>
            <a:srgbClr val="0B191E"/>
          </a:solidFill>
          <a:ln/>
          <a:effectLst>
            <a:outerShdw sx="100000" sy="100000" kx="0" ky="0" algn="bl" rotWithShape="0" blurRad="203200" dist="76200" dir="5400000">
              <a:srgbClr val="0B191E">
                <a:alpha val="18000"/>
              </a:srgbClr>
            </a:outerShdw>
          </a:effectLst>
        </p:spPr>
        <p:txBody>
          <a:bodyPr wrap="square" lIns="1918" tIns="32525" rIns="1918" bIns="7125" rtlCol="0" anchor="t">
            <a:normAutofit/>
          </a:bodyPr>
          <a:lstStyle/>
          <a:p>
            <a:pPr algn="ctr" indent="0" marL="0">
              <a:lnSpc>
                <a:spcPts val="3080"/>
              </a:lnSpc>
              <a:buNone/>
            </a:pPr>
            <a:r>
              <a:rPr lang="en-US" sz="2200" i="1" dirty="0">
                <a:solidFill>
                  <a:srgbClr val="86D028"/>
                </a:solidFill>
                <a:latin typeface="Instrument Serif" pitchFamily="18" charset="0"/>
                <a:ea typeface="Instrument Serif" pitchFamily="18" charset="-122"/>
                <a:cs typeface="Instrument Serif" pitchFamily="18" charset="-120"/>
              </a:rPr>
              <a:t>“Where does a battery go?”</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9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THE SOLUTION</a:t>
            </a:r>
            <a:endParaRPr lang="en-US" sz="1200" dirty="0"/>
          </a:p>
        </p:txBody>
      </p:sp>
      <p:sp>
        <p:nvSpPr>
          <p:cNvPr id="3" name="Text 1"/>
          <p:cNvSpPr/>
          <p:nvPr>
            <p:ph type="title"/>
          </p:nvPr>
        </p:nvSpPr>
        <p:spPr>
          <a:xfrm>
            <a:off x="812800" y="11531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One photo. Every item sorted, </a:t>
            </a:r>
            <a:r>
              <a:rPr lang="en-US" sz="3600" b="1" i="0" spc="-100" kern="0" dirty="0">
                <a:solidFill>
                  <a:srgbClr val="86D028"/>
                </a:solidFill>
                <a:latin typeface="Geist" pitchFamily="34" charset="0"/>
                <a:ea typeface="Geist" pitchFamily="34" charset="-122"/>
                <a:cs typeface="Geist" pitchFamily="34" charset="-120"/>
              </a:rPr>
              <a:t>tracked and explained.</a:t>
            </a:r>
            <a:endParaRPr lang="en-US" sz="3600" dirty="0"/>
          </a:p>
        </p:txBody>
      </p:sp>
      <p:sp>
        <p:nvSpPr>
          <p:cNvPr id="4" name="Shape 2"/>
          <p:cNvSpPr/>
          <p:nvPr/>
        </p:nvSpPr>
        <p:spPr>
          <a:xfrm>
            <a:off x="815975" y="2543175"/>
            <a:ext cx="3378200" cy="2978150"/>
          </a:xfrm>
          <a:prstGeom prst="roundRect">
            <a:avLst>
              <a:gd name="adj" fmla="val 5864"/>
            </a:avLst>
          </a:prstGeom>
          <a:gradFill rotWithShape="1">
            <a:gsLst>
              <a:gs pos="0">
                <a:srgbClr val="13293A"/>
              </a:gs>
              <a:gs pos="100000">
                <a:srgbClr val="12262C"/>
              </a:gs>
            </a:gsLst>
            <a:lin ang="5400000" scaled="0"/>
          </a:gradFill>
          <a:ln w="6350">
            <a:solidFill>
              <a:srgbClr val="23393F"/>
            </a:solidFill>
            <a:prstDash val="solid"/>
          </a:ln>
          <a:effectLst>
            <a:outerShdw sx="100000" sy="100000" kx="0" ky="0" algn="bl" rotWithShape="0" blurRad="304800" dist="152400" dir="5400000">
              <a:srgbClr val="000000">
                <a:alpha val="25000"/>
              </a:srgbClr>
            </a:outerShdw>
          </a:effectLst>
        </p:spPr>
      </p:sp>
      <p:pic>
        <p:nvPicPr>
          <p:cNvPr id="5" name="Image 0" descr="Search">    </p:cNvPr>
          <p:cNvPicPr>
            <a:picLocks noChangeAspect="1"/>
          </p:cNvPicPr>
          <p:nvPr/>
        </p:nvPicPr>
        <p:blipFill>
          <a:blip r:embed="rId1"/>
          <a:srcRect l="0" r="0" t="0" b="0"/>
          <a:stretch/>
        </p:blipFill>
        <p:spPr>
          <a:xfrm>
            <a:off x="1123950" y="2851150"/>
            <a:ext cx="355600" cy="355600"/>
          </a:xfrm>
          <a:prstGeom prst="rect">
            <a:avLst/>
          </a:prstGeom>
        </p:spPr>
      </p:pic>
      <p:sp>
        <p:nvSpPr>
          <p:cNvPr id="6" name="Text 3"/>
          <p:cNvSpPr/>
          <p:nvPr/>
        </p:nvSpPr>
        <p:spPr>
          <a:xfrm>
            <a:off x="1123950" y="3333750"/>
            <a:ext cx="28451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0A5FA"/>
                </a:solidFill>
                <a:latin typeface="Geist" pitchFamily="34" charset="0"/>
                <a:ea typeface="Geist" pitchFamily="34" charset="-122"/>
                <a:cs typeface="Geist" pitchFamily="34" charset="-120"/>
              </a:rPr>
              <a:t>SEE</a:t>
            </a:r>
            <a:endParaRPr lang="en-US" sz="1200" dirty="0"/>
          </a:p>
        </p:txBody>
      </p:sp>
      <p:sp>
        <p:nvSpPr>
          <p:cNvPr id="7" name="Text 4"/>
          <p:cNvSpPr/>
          <p:nvPr/>
        </p:nvSpPr>
        <p:spPr>
          <a:xfrm>
            <a:off x="1123950" y="3674070"/>
            <a:ext cx="28451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1F6F2"/>
                </a:solidFill>
                <a:latin typeface="Geist" pitchFamily="34" charset="0"/>
                <a:ea typeface="Geist" pitchFamily="34" charset="-122"/>
                <a:cs typeface="Geist" pitchFamily="34" charset="-120"/>
              </a:rPr>
              <a:t>Computer vision</a:t>
            </a:r>
            <a:endParaRPr lang="en-US" sz="2200" dirty="0"/>
          </a:p>
        </p:txBody>
      </p:sp>
      <p:sp>
        <p:nvSpPr>
          <p:cNvPr id="8" name="Text 5"/>
          <p:cNvSpPr/>
          <p:nvPr/>
        </p:nvSpPr>
        <p:spPr>
          <a:xfrm>
            <a:off x="1123950" y="4122341"/>
            <a:ext cx="284511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Finds every object in a pile and sorts it into recyclable, reusable, biodegradable or hazardous.</a:t>
            </a:r>
            <a:endParaRPr lang="en-US" sz="1400" dirty="0"/>
          </a:p>
        </p:txBody>
      </p:sp>
      <p:sp>
        <p:nvSpPr>
          <p:cNvPr id="9" name="Shape 6"/>
          <p:cNvSpPr/>
          <p:nvPr/>
        </p:nvSpPr>
        <p:spPr>
          <a:xfrm>
            <a:off x="4403725" y="2543175"/>
            <a:ext cx="3378200" cy="2978150"/>
          </a:xfrm>
          <a:prstGeom prst="roundRect">
            <a:avLst>
              <a:gd name="adj" fmla="val 5864"/>
            </a:avLst>
          </a:prstGeom>
          <a:gradFill rotWithShape="1">
            <a:gsLst>
              <a:gs pos="0">
                <a:srgbClr val="172D1F"/>
              </a:gs>
              <a:gs pos="100000">
                <a:srgbClr val="12262C"/>
              </a:gs>
            </a:gsLst>
            <a:lin ang="5400000" scaled="0"/>
          </a:gradFill>
          <a:ln w="6350">
            <a:solidFill>
              <a:srgbClr val="23393F"/>
            </a:solidFill>
            <a:prstDash val="solid"/>
          </a:ln>
          <a:effectLst>
            <a:outerShdw sx="100000" sy="100000" kx="0" ky="0" algn="bl" rotWithShape="0" blurRad="304800" dist="152400" dir="5400000">
              <a:srgbClr val="000000">
                <a:alpha val="25000"/>
              </a:srgbClr>
            </a:outerShdw>
          </a:effectLst>
        </p:spPr>
      </p:sp>
      <p:pic>
        <p:nvPicPr>
          <p:cNvPr id="10" name="Image 1" descr="Activity">    </p:cNvPr>
          <p:cNvPicPr>
            <a:picLocks noChangeAspect="1"/>
          </p:cNvPicPr>
          <p:nvPr/>
        </p:nvPicPr>
        <p:blipFill>
          <a:blip r:embed="rId2"/>
          <a:srcRect l="0" r="0" t="0" b="0"/>
          <a:stretch/>
        </p:blipFill>
        <p:spPr>
          <a:xfrm>
            <a:off x="4711700" y="2851150"/>
            <a:ext cx="355600" cy="355600"/>
          </a:xfrm>
          <a:prstGeom prst="rect">
            <a:avLst/>
          </a:prstGeom>
        </p:spPr>
      </p:pic>
      <p:sp>
        <p:nvSpPr>
          <p:cNvPr id="11" name="Text 7"/>
          <p:cNvSpPr/>
          <p:nvPr/>
        </p:nvSpPr>
        <p:spPr>
          <a:xfrm>
            <a:off x="4711700" y="3333750"/>
            <a:ext cx="28451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6D028"/>
                </a:solidFill>
                <a:latin typeface="Geist" pitchFamily="34" charset="0"/>
                <a:ea typeface="Geist" pitchFamily="34" charset="-122"/>
                <a:cs typeface="Geist" pitchFamily="34" charset="-120"/>
              </a:rPr>
              <a:t>TRACK</a:t>
            </a:r>
            <a:endParaRPr lang="en-US" sz="1200" dirty="0"/>
          </a:p>
        </p:txBody>
      </p:sp>
      <p:sp>
        <p:nvSpPr>
          <p:cNvPr id="12" name="Text 8"/>
          <p:cNvSpPr/>
          <p:nvPr/>
        </p:nvSpPr>
        <p:spPr>
          <a:xfrm>
            <a:off x="4711700" y="3674070"/>
            <a:ext cx="28451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1F6F2"/>
                </a:solidFill>
                <a:latin typeface="Geist" pitchFamily="34" charset="0"/>
                <a:ea typeface="Geist" pitchFamily="34" charset="-122"/>
                <a:cs typeface="Geist" pitchFamily="34" charset="-120"/>
              </a:rPr>
              <a:t>Digital twin</a:t>
            </a:r>
            <a:endParaRPr lang="en-US" sz="2200" dirty="0"/>
          </a:p>
        </p:txBody>
      </p:sp>
      <p:sp>
        <p:nvSpPr>
          <p:cNvPr id="13" name="Text 9"/>
          <p:cNvSpPr/>
          <p:nvPr/>
        </p:nvSpPr>
        <p:spPr>
          <a:xfrm>
            <a:off x="4711700" y="4122341"/>
            <a:ext cx="284511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Follows each item to recycling, compost, safe disposal or landfill, and simulates what-ifs.</a:t>
            </a:r>
            <a:endParaRPr lang="en-US" sz="1400" dirty="0"/>
          </a:p>
        </p:txBody>
      </p:sp>
      <p:sp>
        <p:nvSpPr>
          <p:cNvPr id="14" name="Shape 10"/>
          <p:cNvSpPr/>
          <p:nvPr/>
        </p:nvSpPr>
        <p:spPr>
          <a:xfrm>
            <a:off x="7991475" y="2543175"/>
            <a:ext cx="3378200" cy="2978150"/>
          </a:xfrm>
          <a:prstGeom prst="roundRect">
            <a:avLst>
              <a:gd name="adj" fmla="val 5864"/>
            </a:avLst>
          </a:prstGeom>
          <a:gradFill rotWithShape="1">
            <a:gsLst>
              <a:gs pos="0">
                <a:srgbClr val="1F2238"/>
              </a:gs>
              <a:gs pos="100000">
                <a:srgbClr val="12262C"/>
              </a:gs>
            </a:gsLst>
            <a:lin ang="5400000" scaled="0"/>
          </a:gradFill>
          <a:ln w="6350">
            <a:solidFill>
              <a:srgbClr val="23393F"/>
            </a:solidFill>
            <a:prstDash val="solid"/>
          </a:ln>
          <a:effectLst>
            <a:outerShdw sx="100000" sy="100000" kx="0" ky="0" algn="bl" rotWithShape="0" blurRad="304800" dist="152400" dir="5400000">
              <a:srgbClr val="000000">
                <a:alpha val="25000"/>
              </a:srgbClr>
            </a:outerShdw>
          </a:effectLst>
        </p:spPr>
      </p:sp>
      <p:pic>
        <p:nvPicPr>
          <p:cNvPr id="15" name="Image 2" descr="Chat">    </p:cNvPr>
          <p:cNvPicPr>
            <a:picLocks noChangeAspect="1"/>
          </p:cNvPicPr>
          <p:nvPr/>
        </p:nvPicPr>
        <p:blipFill>
          <a:blip r:embed="rId3"/>
          <a:srcRect l="0" r="0" t="0" b="0"/>
          <a:stretch/>
        </p:blipFill>
        <p:spPr>
          <a:xfrm>
            <a:off x="8299450" y="2851150"/>
            <a:ext cx="355600" cy="355600"/>
          </a:xfrm>
          <a:prstGeom prst="rect">
            <a:avLst/>
          </a:prstGeom>
        </p:spPr>
      </p:pic>
      <p:sp>
        <p:nvSpPr>
          <p:cNvPr id="16" name="Text 11"/>
          <p:cNvSpPr/>
          <p:nvPr/>
        </p:nvSpPr>
        <p:spPr>
          <a:xfrm>
            <a:off x="8299450" y="3333750"/>
            <a:ext cx="28451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A78BFA"/>
                </a:solidFill>
                <a:latin typeface="Geist" pitchFamily="34" charset="0"/>
                <a:ea typeface="Geist" pitchFamily="34" charset="-122"/>
                <a:cs typeface="Geist" pitchFamily="34" charset="-120"/>
              </a:rPr>
              <a:t>COACH</a:t>
            </a:r>
            <a:endParaRPr lang="en-US" sz="1200" dirty="0"/>
          </a:p>
        </p:txBody>
      </p:sp>
      <p:sp>
        <p:nvSpPr>
          <p:cNvPr id="17" name="Text 12"/>
          <p:cNvSpPr/>
          <p:nvPr/>
        </p:nvSpPr>
        <p:spPr>
          <a:xfrm>
            <a:off x="8299450" y="3674070"/>
            <a:ext cx="2845118"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F1F6F2"/>
                </a:solidFill>
                <a:latin typeface="Geist" pitchFamily="34" charset="0"/>
                <a:ea typeface="Geist" pitchFamily="34" charset="-122"/>
                <a:cs typeface="Geist" pitchFamily="34" charset="-120"/>
              </a:rPr>
              <a:t>Generative AI</a:t>
            </a:r>
            <a:endParaRPr lang="en-US" sz="2200" dirty="0"/>
          </a:p>
        </p:txBody>
      </p:sp>
      <p:sp>
        <p:nvSpPr>
          <p:cNvPr id="18" name="Text 13"/>
          <p:cNvSpPr/>
          <p:nvPr/>
        </p:nvSpPr>
        <p:spPr>
          <a:xfrm>
            <a:off x="8299450" y="4122341"/>
            <a:ext cx="284511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D0CB"/>
                </a:solidFill>
                <a:latin typeface="Geist" pitchFamily="34" charset="0"/>
                <a:ea typeface="Geist" pitchFamily="34" charset="-122"/>
                <a:cs typeface="Geist" pitchFamily="34" charset="-120"/>
              </a:rPr>
              <a:t>Turns your own scan history into personal advice, in five Indian languages.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HOW IT WORKS</a:t>
            </a:r>
            <a:endParaRPr lang="en-US" sz="1200" dirty="0"/>
          </a:p>
        </p:txBody>
      </p:sp>
      <p:sp>
        <p:nvSpPr>
          <p:cNvPr id="3" name="Text 1"/>
          <p:cNvSpPr/>
          <p:nvPr>
            <p:ph type="title"/>
          </p:nvPr>
        </p:nvSpPr>
        <p:spPr>
          <a:xfrm>
            <a:off x="812800" y="1153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From a photo to a decision in seconds</a:t>
            </a:r>
            <a:endParaRPr lang="en-US" sz="3600" dirty="0"/>
          </a:p>
        </p:txBody>
      </p:sp>
      <p:sp>
        <p:nvSpPr>
          <p:cNvPr id="4" name="Shape 2"/>
          <p:cNvSpPr/>
          <p:nvPr/>
        </p:nvSpPr>
        <p:spPr>
          <a:xfrm>
            <a:off x="815975" y="2098675"/>
            <a:ext cx="1695450" cy="2216150"/>
          </a:xfrm>
          <a:prstGeom prst="roundRect">
            <a:avLst>
              <a:gd name="adj" fmla="val 8801"/>
            </a:avLst>
          </a:prstGeom>
          <a:solidFill>
            <a:srgbClr val="152D34"/>
          </a:solidFill>
          <a:ln w="6350">
            <a:solidFill>
              <a:srgbClr val="27424A"/>
            </a:solidFill>
            <a:prstDash val="solid"/>
          </a:ln>
        </p:spPr>
      </p:sp>
      <p:sp>
        <p:nvSpPr>
          <p:cNvPr id="5" name="Text 3"/>
          <p:cNvSpPr/>
          <p:nvPr/>
        </p:nvSpPr>
        <p:spPr>
          <a:xfrm>
            <a:off x="1022350" y="2305050"/>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01</a:t>
            </a:r>
            <a:endParaRPr lang="en-US" sz="1200" dirty="0"/>
          </a:p>
        </p:txBody>
      </p:sp>
      <p:sp>
        <p:nvSpPr>
          <p:cNvPr id="6" name="Text 4"/>
          <p:cNvSpPr/>
          <p:nvPr/>
        </p:nvSpPr>
        <p:spPr>
          <a:xfrm>
            <a:off x="1022350" y="2594570"/>
            <a:ext cx="13335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Photo</a:t>
            </a:r>
            <a:endParaRPr lang="en-US" sz="1800" dirty="0"/>
          </a:p>
        </p:txBody>
      </p:sp>
      <p:sp>
        <p:nvSpPr>
          <p:cNvPr id="7" name="Text 5"/>
          <p:cNvSpPr/>
          <p:nvPr/>
        </p:nvSpPr>
        <p:spPr>
          <a:xfrm>
            <a:off x="1022350" y="2945061"/>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Camera or upload, any format, resized in the browser.</a:t>
            </a:r>
            <a:endParaRPr lang="en-US" sz="1200" dirty="0"/>
          </a:p>
        </p:txBody>
      </p:sp>
      <p:pic>
        <p:nvPicPr>
          <p:cNvPr id="8" name="Image 0" descr="arrow-right">    </p:cNvPr>
          <p:cNvPicPr>
            <a:picLocks noChangeAspect="1"/>
          </p:cNvPicPr>
          <p:nvPr/>
        </p:nvPicPr>
        <p:blipFill>
          <a:blip r:embed="rId1"/>
          <a:srcRect l="0" r="0" t="0" b="0"/>
          <a:stretch/>
        </p:blipFill>
        <p:spPr>
          <a:xfrm>
            <a:off x="2616200" y="3117850"/>
            <a:ext cx="304800" cy="177800"/>
          </a:xfrm>
          <a:prstGeom prst="rect">
            <a:avLst/>
          </a:prstGeom>
        </p:spPr>
      </p:pic>
      <p:sp>
        <p:nvSpPr>
          <p:cNvPr id="9" name="Shape 6"/>
          <p:cNvSpPr/>
          <p:nvPr/>
        </p:nvSpPr>
        <p:spPr>
          <a:xfrm>
            <a:off x="3025775" y="2098675"/>
            <a:ext cx="1695450" cy="2216150"/>
          </a:xfrm>
          <a:prstGeom prst="roundRect">
            <a:avLst>
              <a:gd name="adj" fmla="val 8801"/>
            </a:avLst>
          </a:prstGeom>
          <a:solidFill>
            <a:srgbClr val="152D34"/>
          </a:solidFill>
          <a:ln w="6350">
            <a:solidFill>
              <a:srgbClr val="27424A"/>
            </a:solidFill>
            <a:prstDash val="solid"/>
          </a:ln>
        </p:spPr>
      </p:sp>
      <p:sp>
        <p:nvSpPr>
          <p:cNvPr id="10" name="Text 7"/>
          <p:cNvSpPr/>
          <p:nvPr/>
        </p:nvSpPr>
        <p:spPr>
          <a:xfrm>
            <a:off x="3232150" y="2305050"/>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02</a:t>
            </a:r>
            <a:endParaRPr lang="en-US" sz="1200" dirty="0"/>
          </a:p>
        </p:txBody>
      </p:sp>
      <p:sp>
        <p:nvSpPr>
          <p:cNvPr id="11" name="Text 8"/>
          <p:cNvSpPr/>
          <p:nvPr/>
        </p:nvSpPr>
        <p:spPr>
          <a:xfrm>
            <a:off x="3232150" y="2594570"/>
            <a:ext cx="13335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Detect</a:t>
            </a:r>
            <a:endParaRPr lang="en-US" sz="1800" dirty="0"/>
          </a:p>
        </p:txBody>
      </p:sp>
      <p:sp>
        <p:nvSpPr>
          <p:cNvPr id="12" name="Text 9"/>
          <p:cNvSpPr/>
          <p:nvPr/>
        </p:nvSpPr>
        <p:spPr>
          <a:xfrm>
            <a:off x="3232150" y="2945061"/>
            <a:ext cx="133350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YOLO on the device plus Gemini Vision, merged box by box.</a:t>
            </a:r>
            <a:endParaRPr lang="en-US" sz="1200" dirty="0"/>
          </a:p>
        </p:txBody>
      </p:sp>
      <p:pic>
        <p:nvPicPr>
          <p:cNvPr id="13" name="Image 1" descr="arrow-right">    </p:cNvPr>
          <p:cNvPicPr>
            <a:picLocks noChangeAspect="1"/>
          </p:cNvPicPr>
          <p:nvPr/>
        </p:nvPicPr>
        <p:blipFill>
          <a:blip r:embed="rId2"/>
          <a:srcRect l="0" r="0" t="0" b="0"/>
          <a:stretch/>
        </p:blipFill>
        <p:spPr>
          <a:xfrm>
            <a:off x="4826000" y="3117850"/>
            <a:ext cx="304800" cy="177800"/>
          </a:xfrm>
          <a:prstGeom prst="rect">
            <a:avLst/>
          </a:prstGeom>
        </p:spPr>
      </p:pic>
      <p:sp>
        <p:nvSpPr>
          <p:cNvPr id="14" name="Shape 10"/>
          <p:cNvSpPr/>
          <p:nvPr/>
        </p:nvSpPr>
        <p:spPr>
          <a:xfrm>
            <a:off x="5235575" y="2098675"/>
            <a:ext cx="1695450" cy="2216150"/>
          </a:xfrm>
          <a:prstGeom prst="roundRect">
            <a:avLst>
              <a:gd name="adj" fmla="val 8801"/>
            </a:avLst>
          </a:prstGeom>
          <a:solidFill>
            <a:srgbClr val="152D34"/>
          </a:solidFill>
          <a:ln w="6350">
            <a:solidFill>
              <a:srgbClr val="27424A"/>
            </a:solidFill>
            <a:prstDash val="solid"/>
          </a:ln>
        </p:spPr>
      </p:sp>
      <p:sp>
        <p:nvSpPr>
          <p:cNvPr id="15" name="Text 11"/>
          <p:cNvSpPr/>
          <p:nvPr/>
        </p:nvSpPr>
        <p:spPr>
          <a:xfrm>
            <a:off x="5441950" y="2305050"/>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03</a:t>
            </a:r>
            <a:endParaRPr lang="en-US" sz="1200" dirty="0"/>
          </a:p>
        </p:txBody>
      </p:sp>
      <p:sp>
        <p:nvSpPr>
          <p:cNvPr id="16" name="Text 12"/>
          <p:cNvSpPr/>
          <p:nvPr/>
        </p:nvSpPr>
        <p:spPr>
          <a:xfrm>
            <a:off x="5441950" y="2594570"/>
            <a:ext cx="13335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Enrich</a:t>
            </a:r>
            <a:endParaRPr lang="en-US" sz="1800" dirty="0"/>
          </a:p>
        </p:txBody>
      </p:sp>
      <p:sp>
        <p:nvSpPr>
          <p:cNvPr id="17" name="Text 13"/>
          <p:cNvSpPr/>
          <p:nvPr/>
        </p:nvSpPr>
        <p:spPr>
          <a:xfrm>
            <a:off x="5441950" y="2945061"/>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Material, weight, scrap value in ₹, CO₂e and disposal steps.</a:t>
            </a:r>
            <a:endParaRPr lang="en-US" sz="1200" dirty="0"/>
          </a:p>
        </p:txBody>
      </p:sp>
      <p:pic>
        <p:nvPicPr>
          <p:cNvPr id="18" name="Image 2" descr="arrow-right">    </p:cNvPr>
          <p:cNvPicPr>
            <a:picLocks noChangeAspect="1"/>
          </p:cNvPicPr>
          <p:nvPr/>
        </p:nvPicPr>
        <p:blipFill>
          <a:blip r:embed="rId3"/>
          <a:srcRect l="0" r="0" t="0" b="0"/>
          <a:stretch/>
        </p:blipFill>
        <p:spPr>
          <a:xfrm>
            <a:off x="7035800" y="3117850"/>
            <a:ext cx="304800" cy="177800"/>
          </a:xfrm>
          <a:prstGeom prst="rect">
            <a:avLst/>
          </a:prstGeom>
        </p:spPr>
      </p:pic>
      <p:sp>
        <p:nvSpPr>
          <p:cNvPr id="19" name="Shape 14"/>
          <p:cNvSpPr/>
          <p:nvPr/>
        </p:nvSpPr>
        <p:spPr>
          <a:xfrm>
            <a:off x="7445375" y="2098675"/>
            <a:ext cx="1695450" cy="2216150"/>
          </a:xfrm>
          <a:prstGeom prst="roundRect">
            <a:avLst>
              <a:gd name="adj" fmla="val 8801"/>
            </a:avLst>
          </a:prstGeom>
          <a:solidFill>
            <a:srgbClr val="152D34"/>
          </a:solidFill>
          <a:ln w="6350">
            <a:solidFill>
              <a:srgbClr val="27424A"/>
            </a:solidFill>
            <a:prstDash val="solid"/>
          </a:ln>
        </p:spPr>
      </p:sp>
      <p:sp>
        <p:nvSpPr>
          <p:cNvPr id="20" name="Text 15"/>
          <p:cNvSpPr/>
          <p:nvPr/>
        </p:nvSpPr>
        <p:spPr>
          <a:xfrm>
            <a:off x="7651750" y="2305050"/>
            <a:ext cx="1333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04</a:t>
            </a:r>
            <a:endParaRPr lang="en-US" sz="1200" dirty="0"/>
          </a:p>
        </p:txBody>
      </p:sp>
      <p:sp>
        <p:nvSpPr>
          <p:cNvPr id="21" name="Text 16"/>
          <p:cNvSpPr/>
          <p:nvPr/>
        </p:nvSpPr>
        <p:spPr>
          <a:xfrm>
            <a:off x="7651750" y="2594570"/>
            <a:ext cx="13335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Twin</a:t>
            </a:r>
            <a:endParaRPr lang="en-US" sz="1800" dirty="0"/>
          </a:p>
        </p:txBody>
      </p:sp>
      <p:sp>
        <p:nvSpPr>
          <p:cNvPr id="22" name="Text 17"/>
          <p:cNvSpPr/>
          <p:nvPr/>
        </p:nvSpPr>
        <p:spPr>
          <a:xfrm>
            <a:off x="7651750" y="2945061"/>
            <a:ext cx="1333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Each item becomes an event in the material flow model.</a:t>
            </a:r>
            <a:endParaRPr lang="en-US" sz="1200" dirty="0"/>
          </a:p>
        </p:txBody>
      </p:sp>
      <p:pic>
        <p:nvPicPr>
          <p:cNvPr id="23" name="Image 3" descr="arrow-right">    </p:cNvPr>
          <p:cNvPicPr>
            <a:picLocks noChangeAspect="1"/>
          </p:cNvPicPr>
          <p:nvPr/>
        </p:nvPicPr>
        <p:blipFill>
          <a:blip r:embed="rId4"/>
          <a:srcRect l="0" r="0" t="0" b="0"/>
          <a:stretch/>
        </p:blipFill>
        <p:spPr>
          <a:xfrm>
            <a:off x="9245600" y="3117850"/>
            <a:ext cx="304800" cy="177800"/>
          </a:xfrm>
          <a:prstGeom prst="rect">
            <a:avLst/>
          </a:prstGeom>
        </p:spPr>
      </p:pic>
      <p:sp>
        <p:nvSpPr>
          <p:cNvPr id="24" name="Shape 18"/>
          <p:cNvSpPr/>
          <p:nvPr/>
        </p:nvSpPr>
        <p:spPr>
          <a:xfrm>
            <a:off x="9652000" y="2095500"/>
            <a:ext cx="1727200" cy="2222500"/>
          </a:xfrm>
          <a:prstGeom prst="roundRect">
            <a:avLst>
              <a:gd name="adj" fmla="val 8824"/>
            </a:avLst>
          </a:prstGeom>
          <a:solidFill>
            <a:srgbClr val="86D028"/>
          </a:solidFill>
          <a:ln/>
          <a:effectLst>
            <a:outerShdw sx="100000" sy="100000" kx="0" ky="0" algn="bl" rotWithShape="0" blurRad="304800" dist="0" dir="60000">
              <a:srgbClr val="86D028">
                <a:alpha val="35000"/>
              </a:srgbClr>
            </a:outerShdw>
          </a:effectLst>
        </p:spPr>
      </p:sp>
      <p:sp>
        <p:nvSpPr>
          <p:cNvPr id="25" name="Text 19"/>
          <p:cNvSpPr/>
          <p:nvPr/>
        </p:nvSpPr>
        <p:spPr>
          <a:xfrm>
            <a:off x="9855200" y="2298700"/>
            <a:ext cx="1371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191E"/>
                </a:solidFill>
                <a:latin typeface="Geist" pitchFamily="34" charset="0"/>
                <a:ea typeface="Geist" pitchFamily="34" charset="-122"/>
                <a:cs typeface="Geist" pitchFamily="34" charset="-120"/>
              </a:rPr>
              <a:t>05</a:t>
            </a:r>
            <a:endParaRPr lang="en-US" sz="1200" dirty="0"/>
          </a:p>
        </p:txBody>
      </p:sp>
      <p:sp>
        <p:nvSpPr>
          <p:cNvPr id="26" name="Text 20"/>
          <p:cNvSpPr/>
          <p:nvPr/>
        </p:nvSpPr>
        <p:spPr>
          <a:xfrm>
            <a:off x="9855200" y="2588220"/>
            <a:ext cx="13716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91E"/>
                </a:solidFill>
                <a:latin typeface="Geist" pitchFamily="34" charset="0"/>
                <a:ea typeface="Geist" pitchFamily="34" charset="-122"/>
                <a:cs typeface="Geist" pitchFamily="34" charset="-120"/>
              </a:rPr>
              <a:t>Coach</a:t>
            </a:r>
            <a:endParaRPr lang="en-US" sz="1800" dirty="0"/>
          </a:p>
        </p:txBody>
      </p:sp>
      <p:sp>
        <p:nvSpPr>
          <p:cNvPr id="27" name="Text 21"/>
          <p:cNvSpPr/>
          <p:nvPr/>
        </p:nvSpPr>
        <p:spPr>
          <a:xfrm>
            <a:off x="9855200" y="2938711"/>
            <a:ext cx="13716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91E"/>
                </a:solidFill>
                <a:latin typeface="Geist" pitchFamily="34" charset="0"/>
                <a:ea typeface="Geist" pitchFamily="34" charset="-122"/>
                <a:cs typeface="Geist" pitchFamily="34" charset="-120"/>
              </a:rPr>
              <a:t>Gemini reads the twin and Indian rules, then advises.</a:t>
            </a:r>
            <a:endParaRPr lang="en-US" sz="1200" dirty="0"/>
          </a:p>
        </p:txBody>
      </p:sp>
      <p:sp>
        <p:nvSpPr>
          <p:cNvPr id="28" name="Text 22"/>
          <p:cNvSpPr/>
          <p:nvPr/>
        </p:nvSpPr>
        <p:spPr>
          <a:xfrm>
            <a:off x="812800" y="48260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BB0AA"/>
                </a:solidFill>
                <a:latin typeface="Geist" pitchFamily="34" charset="0"/>
                <a:ea typeface="Geist" pitchFamily="34" charset="-122"/>
                <a:cs typeface="Geist" pitchFamily="34" charset="-120"/>
              </a:rPr>
              <a:t>Built with React, FastAPI, SQLite, YOLOv8 and Gemini. Works offline with YOLO if the internet drops.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1E"/>
        </a:solidFill>
      </p:bgPr>
    </p:bg>
    <p:spTree>
      <p:nvGrpSpPr>
        <p:cNvPr id="1" name=""/>
        <p:cNvGrpSpPr/>
        <p:nvPr/>
      </p:nvGrpSpPr>
      <p:grpSpPr>
        <a:xfrm>
          <a:off x="0" y="0"/>
          <a:ext cx="0" cy="0"/>
          <a:chOff x="0" y="0"/>
          <a:chExt cx="0" cy="0"/>
        </a:xfrm>
      </p:grpSpPr>
      <p:sp>
        <p:nvSpPr>
          <p:cNvPr id="2" name="Text 0"/>
          <p:cNvSpPr/>
          <p:nvPr/>
        </p:nvSpPr>
        <p:spPr>
          <a:xfrm>
            <a:off x="812800" y="1803450"/>
            <a:ext cx="5180076"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COMPUTER VISION</a:t>
            </a:r>
            <a:endParaRPr lang="en-US" sz="1200" dirty="0"/>
          </a:p>
        </p:txBody>
      </p:sp>
      <p:sp>
        <p:nvSpPr>
          <p:cNvPr id="3" name="Text 1"/>
          <p:cNvSpPr/>
          <p:nvPr>
            <p:ph type="title"/>
          </p:nvPr>
        </p:nvSpPr>
        <p:spPr>
          <a:xfrm>
            <a:off x="812800" y="2143770"/>
            <a:ext cx="5180076" cy="103118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Sees every item in the pile</a:t>
            </a:r>
            <a:endParaRPr lang="en-US" sz="3600" dirty="0"/>
          </a:p>
        </p:txBody>
      </p:sp>
      <p:sp>
        <p:nvSpPr>
          <p:cNvPr id="4" name="Text 2"/>
          <p:cNvSpPr/>
          <p:nvPr/>
        </p:nvSpPr>
        <p:spPr>
          <a:xfrm>
            <a:off x="876808" y="3378150"/>
            <a:ext cx="5108448" cy="1498550"/>
          </a:xfrm>
          <a:prstGeom prst="rect">
            <a:avLst/>
          </a:prstGeom>
          <a:noFill/>
          <a:ln/>
        </p:spPr>
        <p:txBody>
          <a:bodyPr wrap="square" lIns="0" tIns="0" rIns="0" bIns="0" rtlCol="0" anchor="t">
            <a:normAutofit/>
          </a:bodyPr>
          <a:lstStyle/>
          <a:p>
            <a:pPr algn="l" marL="189992" indent="-189992">
              <a:lnSpc>
                <a:spcPts val="2320"/>
              </a:lnSpc>
              <a:buSzPct val="100000"/>
              <a:buChar char="•"/>
            </a:pPr>
            <a:r>
              <a:rPr lang="en-US" sz="1600" dirty="0">
                <a:solidFill>
                  <a:srgbClr val="BFD0CB"/>
                </a:solidFill>
                <a:latin typeface="Geist" pitchFamily="34" charset="0"/>
                <a:ea typeface="Geist" pitchFamily="34" charset="-122"/>
                <a:cs typeface="Geist" pitchFamily="34" charset="-120"/>
              </a:rPr>
              <a:t>Four classes: recyclable, reusable, biodegradable, hazardous</a:t>
            </a:r>
            <a:endParaRPr lang="en-US" sz="1600" dirty="0"/>
          </a:p>
          <a:p>
            <a:pPr algn="l" marL="189992" indent="-189992">
              <a:lnSpc>
                <a:spcPts val="2320"/>
              </a:lnSpc>
              <a:buSzPct val="100000"/>
              <a:buChar char="•"/>
            </a:pPr>
            <a:r>
              <a:rPr lang="en-US" sz="1600" dirty="0">
                <a:solidFill>
                  <a:srgbClr val="BFD0CB"/>
                </a:solidFill>
                <a:latin typeface="Geist" pitchFamily="34" charset="0"/>
                <a:ea typeface="Geist" pitchFamily="34" charset="-122"/>
                <a:cs typeface="Geist" pitchFamily="34" charset="-120"/>
              </a:rPr>
              <a:t>Reads condition: cap on, food residue, wet, broken</a:t>
            </a:r>
            <a:endParaRPr lang="en-US" sz="1600" dirty="0"/>
          </a:p>
          <a:p>
            <a:pPr algn="l" marL="189992" indent="-189992">
              <a:lnSpc>
                <a:spcPts val="2320"/>
              </a:lnSpc>
              <a:buSzPct val="100000"/>
              <a:buChar char="•"/>
            </a:pPr>
            <a:r>
              <a:rPr lang="en-US" sz="1600" dirty="0">
                <a:solidFill>
                  <a:srgbClr val="BFD0CB"/>
                </a:solidFill>
                <a:latin typeface="Geist" pitchFamily="34" charset="0"/>
                <a:ea typeface="Geist" pitchFamily="34" charset="-122"/>
                <a:cs typeface="Geist" pitchFamily="34" charset="-120"/>
              </a:rPr>
              <a:t>Red alert for batteries, bulbs and e-waste</a:t>
            </a:r>
            <a:endParaRPr lang="en-US" sz="1600" dirty="0"/>
          </a:p>
          <a:p>
            <a:pPr algn="l" marL="189992" indent="-189992">
              <a:lnSpc>
                <a:spcPts val="2320"/>
              </a:lnSpc>
              <a:buSzPct val="100000"/>
              <a:buChar char="•"/>
            </a:pPr>
            <a:r>
              <a:rPr lang="en-US" sz="1600" dirty="0">
                <a:solidFill>
                  <a:srgbClr val="BFD0CB"/>
                </a:solidFill>
                <a:latin typeface="Geist" pitchFamily="34" charset="0"/>
                <a:ea typeface="Geist" pitchFamily="34" charset="-122"/>
                <a:cs typeface="Geist" pitchFamily="34" charset="-120"/>
              </a:rPr>
              <a:t>If the cloud fails, local YOLO keeps scanning</a:t>
            </a:r>
            <a:endParaRPr lang="en-US" sz="1600" dirty="0"/>
          </a:p>
        </p:txBody>
      </p:sp>
      <p:sp>
        <p:nvSpPr>
          <p:cNvPr id="5" name="Shape 3"/>
          <p:cNvSpPr/>
          <p:nvPr/>
        </p:nvSpPr>
        <p:spPr>
          <a:xfrm>
            <a:off x="609600" y="1016000"/>
            <a:ext cx="5435600" cy="4191000"/>
          </a:xfrm>
          <a:prstGeom prst="roundRect">
            <a:avLst>
              <a:gd name="adj" fmla="val 6061"/>
            </a:avLst>
          </a:prstGeom>
          <a:gradFill rotWithShape="1">
            <a:gsLst>
              <a:gs pos="0">
                <a:srgbClr val="86D028">
                  <a:alpha val="22000"/>
                </a:srgbClr>
              </a:gs>
              <a:gs pos="70000">
                <a:srgbClr val="86D028">
                  <a:alpha val="0"/>
                </a:srgbClr>
              </a:gs>
            </a:gsLst>
            <a:path path="circle">
              <a:fillToRect l="50000" t="50000" r="50000" b="50000"/>
            </a:path>
          </a:gradFill>
          <a:ln/>
        </p:spPr>
      </p:sp>
      <p:pic>
        <p:nvPicPr>
          <p:cNvPr id="6" name="Image 0" descr="A pile of plastic bottles and cans with 14 detection boxes labelled by EcoLoop">    </p:cNvPr>
          <p:cNvPicPr>
            <a:picLocks noChangeAspect="1"/>
          </p:cNvPicPr>
          <p:nvPr/>
        </p:nvPicPr>
        <p:blipFill>
          <a:blip r:embed="rId1"/>
          <a:srcRect l="0" r="0" t="16" b="16"/>
          <a:stretch/>
        </p:blipFill>
        <p:spPr>
          <a:xfrm>
            <a:off x="819150" y="1212850"/>
            <a:ext cx="5016500" cy="3759200"/>
          </a:xfrm>
          <a:prstGeom prst="roundRect">
            <a:avLst>
              <a:gd name="adj" fmla="val 4561"/>
            </a:avLst>
          </a:prstGeom>
          <a:effectLst>
            <a:outerShdw sx="100000" sy="100000" kx="0" ky="0" algn="bl" rotWithShape="0" blurRad="406400" dist="203200" dir="5400000">
              <a:srgbClr val="000000">
                <a:alpha val="45000"/>
              </a:srgbClr>
            </a:outerShdw>
          </a:effectLst>
        </p:spPr>
      </p:pic>
      <p:sp>
        <p:nvSpPr>
          <p:cNvPr id="7" name="Shape 4"/>
          <p:cNvSpPr/>
          <p:nvPr/>
        </p:nvSpPr>
        <p:spPr>
          <a:xfrm>
            <a:off x="815975" y="1209675"/>
            <a:ext cx="5022850" cy="3765550"/>
          </a:xfrm>
          <a:prstGeom prst="roundRect">
            <a:avLst>
              <a:gd name="adj" fmla="val 4637"/>
            </a:avLst>
          </a:prstGeom>
          <a:noFill/>
          <a:ln w="6350">
            <a:solidFill>
              <a:srgbClr val="23393F"/>
            </a:solidFill>
            <a:prstDash val="solid"/>
          </a:ln>
        </p:spPr>
      </p:sp>
      <p:sp>
        <p:nvSpPr>
          <p:cNvPr id="8" name="Text 5"/>
          <p:cNvSpPr/>
          <p:nvPr/>
        </p:nvSpPr>
        <p:spPr>
          <a:xfrm>
            <a:off x="812800" y="5118100"/>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B0AA"/>
                </a:solidFill>
                <a:latin typeface="Geist" pitchFamily="34" charset="0"/>
                <a:ea typeface="Geist" pitchFamily="34" charset="-122"/>
                <a:cs typeface="Geist" pitchFamily="34" charset="-120"/>
              </a:rPr>
              <a:t>Real output: 14 items found in one cluttered photo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1247924"/>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DIGITAL TWIN</a:t>
            </a:r>
            <a:endParaRPr lang="en-US" sz="1200" dirty="0"/>
          </a:p>
        </p:txBody>
      </p:sp>
      <p:sp>
        <p:nvSpPr>
          <p:cNvPr id="3" name="Text 1"/>
          <p:cNvSpPr/>
          <p:nvPr>
            <p:ph type="title"/>
          </p:nvPr>
        </p:nvSpPr>
        <p:spPr>
          <a:xfrm>
            <a:off x="812800" y="1588244"/>
            <a:ext cx="5206238" cy="91946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F1F6F2"/>
                </a:solidFill>
                <a:latin typeface="Geist" pitchFamily="34" charset="0"/>
                <a:ea typeface="Geist" pitchFamily="34" charset="-122"/>
                <a:cs typeface="Geist" pitchFamily="34" charset="-120"/>
              </a:rPr>
              <a:t>A living model of your </a:t>
            </a:r>
            <a:r>
              <a:rPr lang="en-US" sz="3200" b="1" i="1" spc="-100" kern="0" dirty="0">
                <a:solidFill>
                  <a:srgbClr val="86D028"/>
                </a:solidFill>
                <a:latin typeface="Geist" pitchFamily="34" charset="0"/>
                <a:ea typeface="Geist" pitchFamily="34" charset="-122"/>
                <a:cs typeface="Geist" pitchFamily="34" charset="-120"/>
              </a:rPr>
              <a:t>waste stream</a:t>
            </a:r>
            <a:endParaRPr lang="en-US" sz="3200" dirty="0"/>
          </a:p>
        </p:txBody>
      </p:sp>
      <p:sp>
        <p:nvSpPr>
          <p:cNvPr id="4" name="Shape 2"/>
          <p:cNvSpPr/>
          <p:nvPr/>
        </p:nvSpPr>
        <p:spPr>
          <a:xfrm>
            <a:off x="815975" y="2714079"/>
            <a:ext cx="5048250" cy="2689622"/>
          </a:xfrm>
          <a:prstGeom prst="roundRect">
            <a:avLst>
              <a:gd name="adj" fmla="val 5548"/>
            </a:avLst>
          </a:prstGeom>
          <a:noFill/>
          <a:ln w="6350">
            <a:solidFill>
              <a:srgbClr val="27424A"/>
            </a:solidFill>
            <a:prstDash val="solid"/>
          </a:ln>
        </p:spPr>
      </p:sp>
      <p:sp>
        <p:nvSpPr>
          <p:cNvPr id="5" name="Shape 3"/>
          <p:cNvSpPr/>
          <p:nvPr/>
        </p:nvSpPr>
        <p:spPr>
          <a:xfrm>
            <a:off x="819150" y="2717254"/>
            <a:ext cx="5041900" cy="448270"/>
          </a:xfrm>
          <a:custGeom>
            <a:avLst/>
            <a:gdLst/>
            <a:ahLst/>
            <a:cxnLst/>
            <a:rect l="l" t="t" r="r" b="b"/>
            <a:pathLst>
              <a:path w="5041900" h="448270">
                <a:moveTo>
                  <a:pt x="0" y="146050"/>
                </a:moveTo>
                <a:arcTo hR="146050" wR="146050" stAng="10800000" swAng="5400000"/>
                <a:lnTo>
                  <a:pt x="4895850" y="0"/>
                </a:lnTo>
                <a:arcTo hR="146050" wR="146050" stAng="16200000" swAng="5400000"/>
                <a:lnTo>
                  <a:pt x="5041900" y="448270"/>
                </a:lnTo>
                <a:lnTo>
                  <a:pt x="0" y="448270"/>
                </a:lnTo>
                <a:close/>
              </a:path>
            </a:pathLst>
          </a:custGeom>
          <a:solidFill>
            <a:srgbClr val="152D34"/>
          </a:solidFill>
          <a:ln/>
        </p:spPr>
      </p:sp>
      <p:sp>
        <p:nvSpPr>
          <p:cNvPr id="6" name="Shape 4"/>
          <p:cNvSpPr/>
          <p:nvPr/>
        </p:nvSpPr>
        <p:spPr>
          <a:xfrm>
            <a:off x="819150" y="2717254"/>
            <a:ext cx="5041900" cy="448270"/>
          </a:xfrm>
          <a:custGeom>
            <a:avLst/>
            <a:gdLst/>
            <a:ahLst/>
            <a:cxnLst/>
            <a:rect l="l" t="t" r="r" b="b"/>
            <a:pathLst>
              <a:path w="5041900" h="448270">
                <a:moveTo>
                  <a:pt x="0" y="441920"/>
                </a:moveTo>
                <a:lnTo>
                  <a:pt x="5041900" y="441920"/>
                </a:lnTo>
                <a:lnTo>
                  <a:pt x="5041900" y="448270"/>
                </a:lnTo>
                <a:lnTo>
                  <a:pt x="0" y="448270"/>
                </a:lnTo>
                <a:lnTo>
                  <a:pt x="0" y="441920"/>
                </a:lnTo>
                <a:close/>
              </a:path>
            </a:pathLst>
          </a:custGeom>
          <a:solidFill>
            <a:srgbClr val="27424A"/>
          </a:solidFill>
          <a:ln/>
        </p:spPr>
      </p:sp>
      <p:sp>
        <p:nvSpPr>
          <p:cNvPr id="7" name="Text 5"/>
          <p:cNvSpPr/>
          <p:nvPr/>
        </p:nvSpPr>
        <p:spPr>
          <a:xfrm>
            <a:off x="996950" y="2831554"/>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Real system</a:t>
            </a:r>
            <a:endParaRPr lang="en-US" sz="1200" dirty="0"/>
          </a:p>
        </p:txBody>
      </p:sp>
      <p:sp>
        <p:nvSpPr>
          <p:cNvPr id="8" name="Text 6"/>
          <p:cNvSpPr/>
          <p:nvPr/>
        </p:nvSpPr>
        <p:spPr>
          <a:xfrm>
            <a:off x="2419350" y="2831554"/>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Your household’s waste</a:t>
            </a:r>
            <a:endParaRPr lang="en-US" sz="1200" dirty="0"/>
          </a:p>
        </p:txBody>
      </p:sp>
      <p:sp>
        <p:nvSpPr>
          <p:cNvPr id="9" name="Shape 7"/>
          <p:cNvSpPr/>
          <p:nvPr/>
        </p:nvSpPr>
        <p:spPr>
          <a:xfrm>
            <a:off x="819150" y="3610620"/>
            <a:ext cx="5041900" cy="0"/>
          </a:xfrm>
          <a:prstGeom prst="line">
            <a:avLst/>
          </a:prstGeom>
          <a:noFill/>
          <a:ln w="6350">
            <a:solidFill>
              <a:srgbClr val="27424A"/>
            </a:solidFill>
            <a:prstDash val="solid"/>
          </a:ln>
        </p:spPr>
      </p:sp>
      <p:sp>
        <p:nvSpPr>
          <p:cNvPr id="10" name="Text 8"/>
          <p:cNvSpPr/>
          <p:nvPr/>
        </p:nvSpPr>
        <p:spPr>
          <a:xfrm>
            <a:off x="996950" y="3279825"/>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Sensor</a:t>
            </a:r>
            <a:endParaRPr lang="en-US" sz="1200" dirty="0"/>
          </a:p>
        </p:txBody>
      </p:sp>
      <p:sp>
        <p:nvSpPr>
          <p:cNvPr id="11" name="Text 9"/>
          <p:cNvSpPr/>
          <p:nvPr/>
        </p:nvSpPr>
        <p:spPr>
          <a:xfrm>
            <a:off x="2419350" y="3279825"/>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Camera + AI, on every scan</a:t>
            </a:r>
            <a:endParaRPr lang="en-US" sz="1200" dirty="0"/>
          </a:p>
        </p:txBody>
      </p:sp>
      <p:sp>
        <p:nvSpPr>
          <p:cNvPr id="12" name="Shape 10"/>
          <p:cNvSpPr/>
          <p:nvPr/>
        </p:nvSpPr>
        <p:spPr>
          <a:xfrm>
            <a:off x="819150" y="3613795"/>
            <a:ext cx="5041900" cy="448270"/>
          </a:xfrm>
          <a:prstGeom prst="rect">
            <a:avLst/>
          </a:prstGeom>
          <a:solidFill>
            <a:srgbClr val="152D34"/>
          </a:solidFill>
          <a:ln/>
        </p:spPr>
      </p:sp>
      <p:sp>
        <p:nvSpPr>
          <p:cNvPr id="13" name="Shape 11"/>
          <p:cNvSpPr/>
          <p:nvPr/>
        </p:nvSpPr>
        <p:spPr>
          <a:xfrm>
            <a:off x="819150" y="4058890"/>
            <a:ext cx="5041900" cy="0"/>
          </a:xfrm>
          <a:prstGeom prst="line">
            <a:avLst/>
          </a:prstGeom>
          <a:noFill/>
          <a:ln w="6350">
            <a:solidFill>
              <a:srgbClr val="27424A"/>
            </a:solidFill>
            <a:prstDash val="solid"/>
          </a:ln>
        </p:spPr>
      </p:sp>
      <p:sp>
        <p:nvSpPr>
          <p:cNvPr id="14" name="Text 12"/>
          <p:cNvSpPr/>
          <p:nvPr/>
        </p:nvSpPr>
        <p:spPr>
          <a:xfrm>
            <a:off x="996950" y="3728095"/>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Model</a:t>
            </a:r>
            <a:endParaRPr lang="en-US" sz="1200" dirty="0"/>
          </a:p>
        </p:txBody>
      </p:sp>
      <p:sp>
        <p:nvSpPr>
          <p:cNvPr id="15" name="Text 13"/>
          <p:cNvSpPr/>
          <p:nvPr/>
        </p:nvSpPr>
        <p:spPr>
          <a:xfrm>
            <a:off x="2419350" y="3728095"/>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Flow graph with real recovery rates</a:t>
            </a:r>
            <a:endParaRPr lang="en-US" sz="1200" dirty="0"/>
          </a:p>
        </p:txBody>
      </p:sp>
      <p:sp>
        <p:nvSpPr>
          <p:cNvPr id="16" name="Shape 14"/>
          <p:cNvSpPr/>
          <p:nvPr/>
        </p:nvSpPr>
        <p:spPr>
          <a:xfrm>
            <a:off x="819150" y="4507161"/>
            <a:ext cx="5041900" cy="0"/>
          </a:xfrm>
          <a:prstGeom prst="line">
            <a:avLst/>
          </a:prstGeom>
          <a:noFill/>
          <a:ln w="6350">
            <a:solidFill>
              <a:srgbClr val="27424A"/>
            </a:solidFill>
            <a:prstDash val="solid"/>
          </a:ln>
        </p:spPr>
      </p:sp>
      <p:sp>
        <p:nvSpPr>
          <p:cNvPr id="17" name="Text 15"/>
          <p:cNvSpPr/>
          <p:nvPr/>
        </p:nvSpPr>
        <p:spPr>
          <a:xfrm>
            <a:off x="996950" y="4176365"/>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Sync</a:t>
            </a:r>
            <a:endParaRPr lang="en-US" sz="1200" dirty="0"/>
          </a:p>
        </p:txBody>
      </p:sp>
      <p:sp>
        <p:nvSpPr>
          <p:cNvPr id="18" name="Text 16"/>
          <p:cNvSpPr/>
          <p:nvPr/>
        </p:nvSpPr>
        <p:spPr>
          <a:xfrm>
            <a:off x="2419350" y="4176365"/>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Updates with each new scan</a:t>
            </a:r>
            <a:endParaRPr lang="en-US" sz="1200" dirty="0"/>
          </a:p>
        </p:txBody>
      </p:sp>
      <p:sp>
        <p:nvSpPr>
          <p:cNvPr id="19" name="Shape 17"/>
          <p:cNvSpPr/>
          <p:nvPr/>
        </p:nvSpPr>
        <p:spPr>
          <a:xfrm>
            <a:off x="819150" y="4510336"/>
            <a:ext cx="5041900" cy="448270"/>
          </a:xfrm>
          <a:prstGeom prst="rect">
            <a:avLst/>
          </a:prstGeom>
          <a:solidFill>
            <a:srgbClr val="152D34"/>
          </a:solidFill>
          <a:ln/>
        </p:spPr>
      </p:sp>
      <p:sp>
        <p:nvSpPr>
          <p:cNvPr id="20" name="Shape 18"/>
          <p:cNvSpPr/>
          <p:nvPr/>
        </p:nvSpPr>
        <p:spPr>
          <a:xfrm>
            <a:off x="819150" y="4955431"/>
            <a:ext cx="5041900" cy="0"/>
          </a:xfrm>
          <a:prstGeom prst="line">
            <a:avLst/>
          </a:prstGeom>
          <a:noFill/>
          <a:ln w="6350">
            <a:solidFill>
              <a:srgbClr val="27424A"/>
            </a:solidFill>
            <a:prstDash val="solid"/>
          </a:ln>
        </p:spPr>
      </p:sp>
      <p:sp>
        <p:nvSpPr>
          <p:cNvPr id="21" name="Text 19"/>
          <p:cNvSpPr/>
          <p:nvPr/>
        </p:nvSpPr>
        <p:spPr>
          <a:xfrm>
            <a:off x="996950" y="4624636"/>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Simulate</a:t>
            </a:r>
            <a:endParaRPr lang="en-US" sz="1200" dirty="0"/>
          </a:p>
        </p:txBody>
      </p:sp>
      <p:sp>
        <p:nvSpPr>
          <p:cNvPr id="22" name="Text 20"/>
          <p:cNvSpPr/>
          <p:nvPr/>
        </p:nvSpPr>
        <p:spPr>
          <a:xfrm>
            <a:off x="2419350" y="4624636"/>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What-if sliders for behaviour change</a:t>
            </a:r>
            <a:endParaRPr lang="en-US" sz="1200" dirty="0"/>
          </a:p>
        </p:txBody>
      </p:sp>
      <p:sp>
        <p:nvSpPr>
          <p:cNvPr id="23" name="Text 21"/>
          <p:cNvSpPr/>
          <p:nvPr/>
        </p:nvSpPr>
        <p:spPr>
          <a:xfrm>
            <a:off x="996950" y="5072906"/>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Feedback</a:t>
            </a:r>
            <a:endParaRPr lang="en-US" sz="1200" dirty="0"/>
          </a:p>
        </p:txBody>
      </p:sp>
      <p:sp>
        <p:nvSpPr>
          <p:cNvPr id="24" name="Text 22"/>
          <p:cNvSpPr/>
          <p:nvPr/>
        </p:nvSpPr>
        <p:spPr>
          <a:xfrm>
            <a:off x="2419350" y="5072906"/>
            <a:ext cx="3361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CB"/>
                </a:solidFill>
                <a:latin typeface="Geist" pitchFamily="34" charset="0"/>
                <a:ea typeface="Geist" pitchFamily="34" charset="-122"/>
                <a:cs typeface="Geist" pitchFamily="34" charset="-120"/>
              </a:rPr>
              <a:t>The AI coach closes the loop</a:t>
            </a:r>
            <a:endParaRPr lang="en-US" sz="1200" dirty="0"/>
          </a:p>
        </p:txBody>
      </p:sp>
      <p:pic>
        <p:nvPicPr>
          <p:cNvPr id="25" name="Image 0" descr="EcoLoop digital twin screen showing a flow diagram from items to recycling, compost and landfill">    </p:cNvPr>
          <p:cNvPicPr>
            <a:picLocks noChangeAspect="1"/>
          </p:cNvPicPr>
          <p:nvPr/>
        </p:nvPicPr>
        <p:blipFill>
          <a:blip r:embed="rId1"/>
          <a:srcRect l="7798" r="7798" t="0" b="0"/>
          <a:stretch/>
        </p:blipFill>
        <p:spPr>
          <a:xfrm>
            <a:off x="6330950" y="1435100"/>
            <a:ext cx="5041900" cy="3778250"/>
          </a:xfrm>
          <a:prstGeom prst="roundRect">
            <a:avLst>
              <a:gd name="adj" fmla="val 4538"/>
            </a:avLst>
          </a:prstGeom>
          <a:effectLst>
            <a:outerShdw sx="100000" sy="100000" kx="0" ky="0" algn="bl" rotWithShape="0" blurRad="406400" dist="203200" dir="5400000">
              <a:srgbClr val="000000">
                <a:alpha val="45000"/>
              </a:srgbClr>
            </a:outerShdw>
          </a:effectLst>
        </p:spPr>
      </p:pic>
      <p:sp>
        <p:nvSpPr>
          <p:cNvPr id="26" name="Shape 23"/>
          <p:cNvSpPr/>
          <p:nvPr/>
        </p:nvSpPr>
        <p:spPr>
          <a:xfrm>
            <a:off x="6327775" y="1431925"/>
            <a:ext cx="5048250" cy="3784600"/>
          </a:xfrm>
          <a:prstGeom prst="roundRect">
            <a:avLst>
              <a:gd name="adj" fmla="val 4614"/>
            </a:avLst>
          </a:prstGeom>
          <a:noFill/>
          <a:ln w="6350">
            <a:solidFill>
              <a:srgbClr val="27424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9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WHAT-IF SIMULATION</a:t>
            </a:r>
            <a:endParaRPr lang="en-US" sz="1200" dirty="0"/>
          </a:p>
        </p:txBody>
      </p:sp>
      <p:sp>
        <p:nvSpPr>
          <p:cNvPr id="3" name="Text 1"/>
          <p:cNvSpPr/>
          <p:nvPr>
            <p:ph type="title"/>
          </p:nvPr>
        </p:nvSpPr>
        <p:spPr>
          <a:xfrm>
            <a:off x="812800" y="1153120"/>
            <a:ext cx="10464800"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If 1,000 homes sorted right for a month</a:t>
            </a:r>
            <a:endParaRPr lang="en-US" sz="3600" dirty="0"/>
          </a:p>
        </p:txBody>
      </p:sp>
      <p:sp>
        <p:nvSpPr>
          <p:cNvPr id="4" name="Text 2"/>
          <p:cNvSpPr/>
          <p:nvPr/>
        </p:nvSpPr>
        <p:spPr>
          <a:xfrm>
            <a:off x="812800" y="178301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9BB0AA"/>
                </a:solidFill>
                <a:latin typeface="Geist" pitchFamily="34" charset="0"/>
                <a:ea typeface="Geist" pitchFamily="34" charset="-122"/>
                <a:cs typeface="Geist" pitchFamily="34" charset="-120"/>
              </a:rPr>
              <a:t>Segregation raised from 20% to 60%, with 25% contamination, over 30 days</a:t>
            </a:r>
            <a:endParaRPr lang="en-US" sz="1500" dirty="0"/>
          </a:p>
        </p:txBody>
      </p:sp>
      <p:sp>
        <p:nvSpPr>
          <p:cNvPr id="5" name="Shape 3"/>
          <p:cNvSpPr/>
          <p:nvPr/>
        </p:nvSpPr>
        <p:spPr>
          <a:xfrm>
            <a:off x="815975" y="2543175"/>
            <a:ext cx="3378200" cy="2025650"/>
          </a:xfrm>
          <a:prstGeom prst="roundRect">
            <a:avLst>
              <a:gd name="adj" fmla="val 8621"/>
            </a:avLst>
          </a:prstGeom>
          <a:solidFill>
            <a:srgbClr val="12262C"/>
          </a:solidFill>
          <a:ln w="6350">
            <a:solidFill>
              <a:srgbClr val="23393F"/>
            </a:solidFill>
            <a:prstDash val="solid"/>
          </a:ln>
        </p:spPr>
      </p:sp>
      <p:sp>
        <p:nvSpPr>
          <p:cNvPr id="6" name="Text 4"/>
          <p:cNvSpPr/>
          <p:nvPr/>
        </p:nvSpPr>
        <p:spPr>
          <a:xfrm>
            <a:off x="1098550" y="2825750"/>
            <a:ext cx="2897442"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86D028"/>
                </a:solidFill>
                <a:latin typeface="Geist" pitchFamily="34" charset="0"/>
                <a:ea typeface="Geist" pitchFamily="34" charset="-122"/>
                <a:cs typeface="Geist" pitchFamily="34" charset="-120"/>
              </a:rPr>
              <a:t>−38%</a:t>
            </a:r>
            <a:endParaRPr lang="en-US" sz="6000" dirty="0"/>
          </a:p>
        </p:txBody>
      </p:sp>
      <p:sp>
        <p:nvSpPr>
          <p:cNvPr id="7" name="Text 5"/>
          <p:cNvSpPr/>
          <p:nvPr/>
        </p:nvSpPr>
        <p:spPr>
          <a:xfrm>
            <a:off x="1098550" y="3663950"/>
            <a:ext cx="289744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6F2"/>
                </a:solidFill>
                <a:latin typeface="Geist" pitchFamily="34" charset="0"/>
                <a:ea typeface="Geist" pitchFamily="34" charset="-122"/>
                <a:cs typeface="Geist" pitchFamily="34" charset="-120"/>
              </a:rPr>
              <a:t>Less to landfill</a:t>
            </a:r>
            <a:endParaRPr lang="en-US" sz="1600" dirty="0"/>
          </a:p>
        </p:txBody>
      </p:sp>
      <p:sp>
        <p:nvSpPr>
          <p:cNvPr id="8" name="Text 6"/>
          <p:cNvSpPr/>
          <p:nvPr/>
        </p:nvSpPr>
        <p:spPr>
          <a:xfrm>
            <a:off x="1098550" y="4024610"/>
            <a:ext cx="289744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CB"/>
                </a:solidFill>
                <a:latin typeface="Geist" pitchFamily="34" charset="0"/>
                <a:ea typeface="Geist" pitchFamily="34" charset="-122"/>
                <a:cs typeface="Geist" pitchFamily="34" charset="-120"/>
              </a:rPr>
              <a:t>29.4 t down to 18.1 t</a:t>
            </a:r>
            <a:endParaRPr lang="en-US" sz="1300" dirty="0"/>
          </a:p>
        </p:txBody>
      </p:sp>
      <p:sp>
        <p:nvSpPr>
          <p:cNvPr id="9" name="Shape 7"/>
          <p:cNvSpPr/>
          <p:nvPr/>
        </p:nvSpPr>
        <p:spPr>
          <a:xfrm>
            <a:off x="4403725" y="2543175"/>
            <a:ext cx="3378200" cy="2025650"/>
          </a:xfrm>
          <a:prstGeom prst="roundRect">
            <a:avLst>
              <a:gd name="adj" fmla="val 8621"/>
            </a:avLst>
          </a:prstGeom>
          <a:solidFill>
            <a:srgbClr val="12262C"/>
          </a:solidFill>
          <a:ln w="6350">
            <a:solidFill>
              <a:srgbClr val="23393F"/>
            </a:solidFill>
            <a:prstDash val="solid"/>
          </a:ln>
        </p:spPr>
      </p:sp>
      <p:sp>
        <p:nvSpPr>
          <p:cNvPr id="10" name="Text 8"/>
          <p:cNvSpPr/>
          <p:nvPr/>
        </p:nvSpPr>
        <p:spPr>
          <a:xfrm>
            <a:off x="4686300" y="2825750"/>
            <a:ext cx="2897442"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86D028"/>
                </a:solidFill>
                <a:latin typeface="Geist" pitchFamily="34" charset="0"/>
                <a:ea typeface="Geist" pitchFamily="34" charset="-122"/>
                <a:cs typeface="Geist" pitchFamily="34" charset="-120"/>
              </a:rPr>
              <a:t>50%</a:t>
            </a:r>
            <a:endParaRPr lang="en-US" sz="6000" dirty="0"/>
          </a:p>
        </p:txBody>
      </p:sp>
      <p:sp>
        <p:nvSpPr>
          <p:cNvPr id="11" name="Text 9"/>
          <p:cNvSpPr/>
          <p:nvPr/>
        </p:nvSpPr>
        <p:spPr>
          <a:xfrm>
            <a:off x="4686300" y="3663950"/>
            <a:ext cx="289744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6F2"/>
                </a:solidFill>
                <a:latin typeface="Geist" pitchFamily="34" charset="0"/>
                <a:ea typeface="Geist" pitchFamily="34" charset="-122"/>
                <a:cs typeface="Geist" pitchFamily="34" charset="-120"/>
              </a:rPr>
              <a:t>Diverted from landfill</a:t>
            </a:r>
            <a:endParaRPr lang="en-US" sz="1600" dirty="0"/>
          </a:p>
        </p:txBody>
      </p:sp>
      <p:sp>
        <p:nvSpPr>
          <p:cNvPr id="12" name="Text 10"/>
          <p:cNvSpPr/>
          <p:nvPr/>
        </p:nvSpPr>
        <p:spPr>
          <a:xfrm>
            <a:off x="4686300" y="4024610"/>
            <a:ext cx="289744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CB"/>
                </a:solidFill>
                <a:latin typeface="Geist" pitchFamily="34" charset="0"/>
                <a:ea typeface="Geist" pitchFamily="34" charset="-122"/>
                <a:cs typeface="Geist" pitchFamily="34" charset="-120"/>
              </a:rPr>
              <a:t>Up from 18% today</a:t>
            </a:r>
            <a:endParaRPr lang="en-US" sz="1300" dirty="0"/>
          </a:p>
        </p:txBody>
      </p:sp>
      <p:sp>
        <p:nvSpPr>
          <p:cNvPr id="13" name="Shape 11"/>
          <p:cNvSpPr/>
          <p:nvPr/>
        </p:nvSpPr>
        <p:spPr>
          <a:xfrm>
            <a:off x="7991475" y="2543175"/>
            <a:ext cx="3378200" cy="2025650"/>
          </a:xfrm>
          <a:prstGeom prst="roundRect">
            <a:avLst>
              <a:gd name="adj" fmla="val 8621"/>
            </a:avLst>
          </a:prstGeom>
          <a:solidFill>
            <a:srgbClr val="12262C"/>
          </a:solidFill>
          <a:ln w="6350">
            <a:solidFill>
              <a:srgbClr val="23393F"/>
            </a:solidFill>
            <a:prstDash val="solid"/>
          </a:ln>
        </p:spPr>
      </p:sp>
      <p:sp>
        <p:nvSpPr>
          <p:cNvPr id="14" name="Text 12"/>
          <p:cNvSpPr/>
          <p:nvPr/>
        </p:nvSpPr>
        <p:spPr>
          <a:xfrm>
            <a:off x="8274050" y="2825750"/>
            <a:ext cx="2897442" cy="787400"/>
          </a:xfrm>
          <a:prstGeom prst="rect">
            <a:avLst/>
          </a:prstGeom>
          <a:noFill/>
          <a:ln/>
        </p:spPr>
        <p:txBody>
          <a:bodyPr wrap="square" lIns="0" tIns="0" rIns="0" bIns="0" rtlCol="0" anchor="t">
            <a:normAutofit/>
          </a:bodyPr>
          <a:lstStyle/>
          <a:p>
            <a:pPr algn="l" indent="0" marL="0">
              <a:lnSpc>
                <a:spcPts val="6000"/>
              </a:lnSpc>
              <a:buNone/>
            </a:pPr>
            <a:r>
              <a:rPr lang="en-US" sz="6000" b="1" spc="-200" kern="0" dirty="0">
                <a:solidFill>
                  <a:srgbClr val="86D028"/>
                </a:solidFill>
                <a:latin typeface="Geist" pitchFamily="34" charset="0"/>
                <a:ea typeface="Geist" pitchFamily="34" charset="-122"/>
                <a:cs typeface="Geist" pitchFamily="34" charset="-120"/>
              </a:rPr>
              <a:t>~10 t</a:t>
            </a:r>
            <a:endParaRPr lang="en-US" sz="6000" dirty="0"/>
          </a:p>
        </p:txBody>
      </p:sp>
      <p:sp>
        <p:nvSpPr>
          <p:cNvPr id="15" name="Text 13"/>
          <p:cNvSpPr/>
          <p:nvPr/>
        </p:nvSpPr>
        <p:spPr>
          <a:xfrm>
            <a:off x="8274050" y="3663950"/>
            <a:ext cx="289744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F6F2"/>
                </a:solidFill>
                <a:latin typeface="Geist" pitchFamily="34" charset="0"/>
                <a:ea typeface="Geist" pitchFamily="34" charset="-122"/>
                <a:cs typeface="Geist" pitchFamily="34" charset="-120"/>
              </a:rPr>
              <a:t>CO₂e avoided</a:t>
            </a:r>
            <a:endParaRPr lang="en-US" sz="1600" dirty="0"/>
          </a:p>
        </p:txBody>
      </p:sp>
      <p:sp>
        <p:nvSpPr>
          <p:cNvPr id="16" name="Text 14"/>
          <p:cNvSpPr/>
          <p:nvPr/>
        </p:nvSpPr>
        <p:spPr>
          <a:xfrm>
            <a:off x="8274050" y="4024610"/>
            <a:ext cx="289744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CB"/>
                </a:solidFill>
                <a:latin typeface="Geist" pitchFamily="34" charset="0"/>
                <a:ea typeface="Geist" pitchFamily="34" charset="-122"/>
                <a:cs typeface="Geist" pitchFamily="34" charset="-120"/>
              </a:rPr>
              <a:t>In a single month</a:t>
            </a:r>
            <a:endParaRPr lang="en-US" sz="1300" dirty="0"/>
          </a:p>
        </p:txBody>
      </p:sp>
      <p:sp>
        <p:nvSpPr>
          <p:cNvPr id="17" name="Text 15"/>
          <p:cNvSpPr/>
          <p:nvPr/>
        </p:nvSpPr>
        <p:spPr>
          <a:xfrm>
            <a:off x="812800" y="4838700"/>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B0AA"/>
                </a:solidFill>
                <a:latin typeface="Geist" pitchFamily="34" charset="0"/>
                <a:ea typeface="Geist" pitchFamily="34" charset="-122"/>
                <a:cs typeface="Geist" pitchFamily="34" charset="-120"/>
              </a:rPr>
              <a:t>Today 29.4 t</a:t>
            </a:r>
            <a:endParaRPr lang="en-US" sz="1200" dirty="0"/>
          </a:p>
        </p:txBody>
      </p:sp>
      <p:sp>
        <p:nvSpPr>
          <p:cNvPr id="18" name="Shape 16"/>
          <p:cNvSpPr/>
          <p:nvPr/>
        </p:nvSpPr>
        <p:spPr>
          <a:xfrm>
            <a:off x="2540000" y="4864100"/>
            <a:ext cx="8839200" cy="177800"/>
          </a:xfrm>
          <a:prstGeom prst="roundRect">
            <a:avLst>
              <a:gd name="adj" fmla="val 50000"/>
            </a:avLst>
          </a:prstGeom>
          <a:solidFill>
            <a:srgbClr val="3A4F55"/>
          </a:solidFill>
          <a:ln/>
        </p:spPr>
      </p:sp>
      <p:sp>
        <p:nvSpPr>
          <p:cNvPr id="19" name="Text 17"/>
          <p:cNvSpPr/>
          <p:nvPr/>
        </p:nvSpPr>
        <p:spPr>
          <a:xfrm>
            <a:off x="812800" y="5219700"/>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6D028"/>
                </a:solidFill>
                <a:latin typeface="Geist" pitchFamily="34" charset="0"/>
                <a:ea typeface="Geist" pitchFamily="34" charset="-122"/>
                <a:cs typeface="Geist" pitchFamily="34" charset="-120"/>
              </a:rPr>
              <a:t>EcoLoop 18.1 t</a:t>
            </a:r>
            <a:endParaRPr lang="en-US" sz="1200" dirty="0"/>
          </a:p>
        </p:txBody>
      </p:sp>
      <p:sp>
        <p:nvSpPr>
          <p:cNvPr id="20" name="Shape 18"/>
          <p:cNvSpPr/>
          <p:nvPr/>
        </p:nvSpPr>
        <p:spPr>
          <a:xfrm>
            <a:off x="2540000" y="5245100"/>
            <a:ext cx="5441950" cy="177800"/>
          </a:xfrm>
          <a:prstGeom prst="roundRect">
            <a:avLst>
              <a:gd name="adj" fmla="val 50000"/>
            </a:avLst>
          </a:prstGeom>
          <a:gradFill rotWithShape="1">
            <a:gsLst>
              <a:gs pos="0">
                <a:srgbClr val="5A9A14"/>
              </a:gs>
              <a:gs pos="100000">
                <a:srgbClr val="86D028"/>
              </a:gs>
            </a:gsLst>
            <a:lin ang="0" scaled="0"/>
          </a:gradFill>
          <a:ln/>
          <a:effectLst>
            <a:outerShdw sx="100000" sy="100000" kx="0" ky="0" algn="bl" rotWithShape="0" blurRad="152400" dist="0" dir="60000">
              <a:srgbClr val="86D028">
                <a:alpha val="40000"/>
              </a:srgbClr>
            </a:outerShdw>
          </a:effectLst>
        </p:spPr>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A84"/>
                </a:solidFill>
                <a:latin typeface="Geist" pitchFamily="34" charset="0"/>
                <a:ea typeface="Geist" pitchFamily="34" charset="-122"/>
                <a:cs typeface="Geist" pitchFamily="34" charset="-120"/>
              </a:rPr>
              <a:t>Illustrative output of the EcoLoop twin model. Recovery rates and assumptions are shown inside the app.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1767235"/>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GENERATIVE AI COACH</a:t>
            </a:r>
            <a:endParaRPr lang="en-US" sz="1200" dirty="0"/>
          </a:p>
        </p:txBody>
      </p:sp>
      <p:sp>
        <p:nvSpPr>
          <p:cNvPr id="3" name="Text 1"/>
          <p:cNvSpPr/>
          <p:nvPr>
            <p:ph type="title"/>
          </p:nvPr>
        </p:nvSpPr>
        <p:spPr>
          <a:xfrm>
            <a:off x="812800" y="2107555"/>
            <a:ext cx="5206238" cy="91946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F1F6F2"/>
                </a:solidFill>
                <a:latin typeface="Geist" pitchFamily="34" charset="0"/>
                <a:ea typeface="Geist" pitchFamily="34" charset="-122"/>
                <a:cs typeface="Geist" pitchFamily="34" charset="-120"/>
              </a:rPr>
              <a:t>Advice from </a:t>
            </a:r>
            <a:r>
              <a:rPr lang="en-US" sz="3200" b="1" i="1" spc="-100" kern="0" dirty="0">
                <a:solidFill>
                  <a:srgbClr val="86D028"/>
                </a:solidFill>
                <a:latin typeface="Geist" pitchFamily="34" charset="0"/>
                <a:ea typeface="Geist" pitchFamily="34" charset="-122"/>
                <a:cs typeface="Geist" pitchFamily="34" charset="-120"/>
              </a:rPr>
              <a:t>your own</a:t>
            </a:r>
            <a:r>
              <a:rPr lang="en-US" sz="3200" b="1" i="0" spc="-100" kern="0" dirty="0">
                <a:solidFill>
                  <a:srgbClr val="F1F6F2"/>
                </a:solidFill>
                <a:latin typeface="Geist" pitchFamily="34" charset="0"/>
                <a:ea typeface="Geist" pitchFamily="34" charset="-122"/>
                <a:cs typeface="Geist" pitchFamily="34" charset="-120"/>
              </a:rPr>
              <a:t> habits</a:t>
            </a:r>
            <a:endParaRPr lang="en-US" sz="3200" dirty="0"/>
          </a:p>
        </p:txBody>
      </p:sp>
      <p:sp>
        <p:nvSpPr>
          <p:cNvPr id="4" name="Text 2"/>
          <p:cNvSpPr/>
          <p:nvPr/>
        </p:nvSpPr>
        <p:spPr>
          <a:xfrm>
            <a:off x="883920" y="3230215"/>
            <a:ext cx="5127498" cy="168275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BFD0CB"/>
                </a:solidFill>
                <a:latin typeface="Geist" pitchFamily="34" charset="0"/>
                <a:ea typeface="Geist" pitchFamily="34" charset="-122"/>
                <a:cs typeface="Geist" pitchFamily="34" charset="-120"/>
              </a:rPr>
              <a:t>Reads your scans and twin, not generic tips</a:t>
            </a:r>
            <a:endParaRPr lang="en-US" sz="1500" dirty="0"/>
          </a:p>
          <a:p>
            <a:pPr algn="l" marL="182880" indent="-182880">
              <a:lnSpc>
                <a:spcPts val="2175"/>
              </a:lnSpc>
              <a:buSzPct val="100000"/>
              <a:buChar char="•"/>
            </a:pPr>
            <a:r>
              <a:rPr lang="en-US" sz="1500" dirty="0">
                <a:solidFill>
                  <a:srgbClr val="BFD0CB"/>
                </a:solidFill>
                <a:latin typeface="Geist" pitchFamily="34" charset="0"/>
                <a:ea typeface="Geist" pitchFamily="34" charset="-122"/>
                <a:cs typeface="Geist" pitchFamily="34" charset="-120"/>
              </a:rPr>
              <a:t>Follows SWM Rules 2016, E-Waste Rules 2022 and the plastic ban</a:t>
            </a:r>
            <a:endParaRPr lang="en-US" sz="1500" dirty="0"/>
          </a:p>
          <a:p>
            <a:pPr algn="l" marL="182880" indent="-182880">
              <a:lnSpc>
                <a:spcPts val="2175"/>
              </a:lnSpc>
              <a:buSzPct val="100000"/>
              <a:buChar char="•"/>
            </a:pPr>
            <a:r>
              <a:rPr lang="en-US" sz="1500" dirty="0">
                <a:solidFill>
                  <a:srgbClr val="BFD0CB"/>
                </a:solidFill>
                <a:latin typeface="Geist" pitchFamily="34" charset="0"/>
                <a:ea typeface="Geist" pitchFamily="34" charset="-122"/>
                <a:cs typeface="Geist" pitchFamily="34" charset="-120"/>
              </a:rPr>
              <a:t>English, Kannada, Hindi, Tamil and Telugu, with read-aloud</a:t>
            </a:r>
            <a:endParaRPr lang="en-US" sz="1500" dirty="0"/>
          </a:p>
          <a:p>
            <a:pPr algn="l" marL="182880" indent="-182880">
              <a:lnSpc>
                <a:spcPts val="2175"/>
              </a:lnSpc>
              <a:buSzPct val="100000"/>
              <a:buChar char="•"/>
            </a:pPr>
            <a:r>
              <a:rPr lang="en-US" sz="1500" dirty="0">
                <a:solidFill>
                  <a:srgbClr val="BFD0CB"/>
                </a:solidFill>
                <a:latin typeface="Geist" pitchFamily="34" charset="0"/>
                <a:ea typeface="Geist" pitchFamily="34" charset="-122"/>
                <a:cs typeface="Geist" pitchFamily="34" charset="-120"/>
              </a:rPr>
              <a:t>Rule-based fallback if the AI is unavailable</a:t>
            </a:r>
            <a:endParaRPr lang="en-US" sz="1500" dirty="0"/>
          </a:p>
        </p:txBody>
      </p:sp>
      <p:pic>
        <p:nvPicPr>
          <p:cNvPr id="5" name="Image 0" descr="EcoLoop AI coach screen giving personalised recycling advice">    </p:cNvPr>
          <p:cNvPicPr>
            <a:picLocks noChangeAspect="1"/>
          </p:cNvPicPr>
          <p:nvPr/>
        </p:nvPicPr>
        <p:blipFill>
          <a:blip r:embed="rId1"/>
          <a:srcRect l="15638" r="15638" t="0" b="0"/>
          <a:stretch/>
        </p:blipFill>
        <p:spPr>
          <a:xfrm>
            <a:off x="819150" y="1435100"/>
            <a:ext cx="5041900" cy="3778250"/>
          </a:xfrm>
          <a:prstGeom prst="roundRect">
            <a:avLst>
              <a:gd name="adj" fmla="val 4538"/>
            </a:avLst>
          </a:prstGeom>
          <a:effectLst>
            <a:outerShdw sx="100000" sy="100000" kx="0" ky="0" algn="bl" rotWithShape="0" blurRad="406400" dist="203200" dir="5400000">
              <a:srgbClr val="000000">
                <a:alpha val="45000"/>
              </a:srgbClr>
            </a:outerShdw>
          </a:effectLst>
        </p:spPr>
      </p:pic>
      <p:sp>
        <p:nvSpPr>
          <p:cNvPr id="6" name="Shape 3"/>
          <p:cNvSpPr/>
          <p:nvPr/>
        </p:nvSpPr>
        <p:spPr>
          <a:xfrm>
            <a:off x="815975" y="1431925"/>
            <a:ext cx="5048250" cy="3784600"/>
          </a:xfrm>
          <a:prstGeom prst="roundRect">
            <a:avLst>
              <a:gd name="adj" fmla="val 4614"/>
            </a:avLst>
          </a:prstGeom>
          <a:noFill/>
          <a:ln w="6350">
            <a:solidFill>
              <a:srgbClr val="27424A"/>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9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AWARENESS</a:t>
            </a:r>
            <a:endParaRPr lang="en-US" sz="1200" dirty="0"/>
          </a:p>
        </p:txBody>
      </p:sp>
      <p:sp>
        <p:nvSpPr>
          <p:cNvPr id="3" name="Text 1"/>
          <p:cNvSpPr/>
          <p:nvPr>
            <p:ph type="title"/>
          </p:nvPr>
        </p:nvSpPr>
        <p:spPr>
          <a:xfrm>
            <a:off x="812800" y="1153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Teach the why, not just the bin</a:t>
            </a:r>
            <a:endParaRPr lang="en-US" sz="3600" dirty="0"/>
          </a:p>
        </p:txBody>
      </p:sp>
      <p:pic>
        <p:nvPicPr>
          <p:cNvPr id="4" name="Image 0" descr="EcoLoop landing page about the plastic crisis">    </p:cNvPr>
          <p:cNvPicPr>
            <a:picLocks noChangeAspect="1"/>
          </p:cNvPicPr>
          <p:nvPr/>
        </p:nvPicPr>
        <p:blipFill>
          <a:blip r:embed="rId1"/>
          <a:srcRect l="0" r="0" t="1934" b="1934"/>
          <a:stretch/>
        </p:blipFill>
        <p:spPr>
          <a:xfrm>
            <a:off x="819150" y="1967161"/>
            <a:ext cx="5143500" cy="2781300"/>
          </a:xfrm>
          <a:prstGeom prst="roundRect">
            <a:avLst>
              <a:gd name="adj" fmla="val 5251"/>
            </a:avLst>
          </a:prstGeom>
        </p:spPr>
      </p:pic>
      <p:sp>
        <p:nvSpPr>
          <p:cNvPr id="5" name="Shape 2"/>
          <p:cNvSpPr/>
          <p:nvPr/>
        </p:nvSpPr>
        <p:spPr>
          <a:xfrm>
            <a:off x="815975" y="1963986"/>
            <a:ext cx="5149850" cy="2787650"/>
          </a:xfrm>
          <a:prstGeom prst="roundRect">
            <a:avLst>
              <a:gd name="adj" fmla="val 5353"/>
            </a:avLst>
          </a:prstGeom>
          <a:noFill/>
          <a:ln w="6350">
            <a:solidFill>
              <a:srgbClr val="23393F"/>
            </a:solidFill>
            <a:prstDash val="solid"/>
          </a:ln>
        </p:spPr>
      </p:sp>
      <p:sp>
        <p:nvSpPr>
          <p:cNvPr id="6" name="Text 3"/>
          <p:cNvSpPr/>
          <p:nvPr/>
        </p:nvSpPr>
        <p:spPr>
          <a:xfrm>
            <a:off x="812800" y="4881811"/>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1F6F2"/>
                </a:solidFill>
                <a:latin typeface="Geist" pitchFamily="34" charset="0"/>
                <a:ea typeface="Geist" pitchFamily="34" charset="-122"/>
                <a:cs typeface="Geist" pitchFamily="34" charset="-120"/>
              </a:rPr>
              <a:t>Landing</a:t>
            </a:r>
            <a:endParaRPr lang="en-US" sz="1500" dirty="0"/>
          </a:p>
        </p:txBody>
      </p:sp>
      <p:sp>
        <p:nvSpPr>
          <p:cNvPr id="7" name="Text 4"/>
          <p:cNvSpPr/>
          <p:nvPr/>
        </p:nvSpPr>
        <p:spPr>
          <a:xfrm>
            <a:off x="812800" y="5275511"/>
            <a:ext cx="531088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CB"/>
                </a:solidFill>
                <a:latin typeface="Geist" pitchFamily="34" charset="0"/>
                <a:ea typeface="Geist" pitchFamily="34" charset="-122"/>
                <a:cs typeface="Geist" pitchFamily="34" charset="-120"/>
              </a:rPr>
              <a:t>The plastic crisis told with verified, sourced numbers.</a:t>
            </a:r>
            <a:endParaRPr lang="en-US" sz="1300" dirty="0"/>
          </a:p>
        </p:txBody>
      </p:sp>
      <p:pic>
        <p:nvPicPr>
          <p:cNvPr id="8" name="Image 1" descr="EcoLoop Learn page with bin guide, resin codes and quiz">    </p:cNvPr>
          <p:cNvPicPr>
            <a:picLocks noChangeAspect="1"/>
          </p:cNvPicPr>
          <p:nvPr/>
        </p:nvPicPr>
        <p:blipFill>
          <a:blip r:embed="rId2"/>
          <a:srcRect l="0" r="0" t="2877" b="2877"/>
          <a:stretch/>
        </p:blipFill>
        <p:spPr>
          <a:xfrm>
            <a:off x="6229350" y="1967161"/>
            <a:ext cx="5143500" cy="2781300"/>
          </a:xfrm>
          <a:prstGeom prst="roundRect">
            <a:avLst>
              <a:gd name="adj" fmla="val 5251"/>
            </a:avLst>
          </a:prstGeom>
        </p:spPr>
      </p:pic>
      <p:sp>
        <p:nvSpPr>
          <p:cNvPr id="9" name="Shape 5"/>
          <p:cNvSpPr/>
          <p:nvPr/>
        </p:nvSpPr>
        <p:spPr>
          <a:xfrm>
            <a:off x="6226175" y="1963986"/>
            <a:ext cx="5149850" cy="2787650"/>
          </a:xfrm>
          <a:prstGeom prst="roundRect">
            <a:avLst>
              <a:gd name="adj" fmla="val 5353"/>
            </a:avLst>
          </a:prstGeom>
          <a:noFill/>
          <a:ln w="6350">
            <a:solidFill>
              <a:srgbClr val="23393F"/>
            </a:solidFill>
            <a:prstDash val="solid"/>
          </a:ln>
        </p:spPr>
      </p:sp>
      <p:sp>
        <p:nvSpPr>
          <p:cNvPr id="10" name="Text 6"/>
          <p:cNvSpPr/>
          <p:nvPr/>
        </p:nvSpPr>
        <p:spPr>
          <a:xfrm>
            <a:off x="6223000" y="4881811"/>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1F6F2"/>
                </a:solidFill>
                <a:latin typeface="Geist" pitchFamily="34" charset="0"/>
                <a:ea typeface="Geist" pitchFamily="34" charset="-122"/>
                <a:cs typeface="Geist" pitchFamily="34" charset="-120"/>
              </a:rPr>
              <a:t>Learn</a:t>
            </a:r>
            <a:endParaRPr lang="en-US" sz="1500" dirty="0"/>
          </a:p>
        </p:txBody>
      </p:sp>
      <p:sp>
        <p:nvSpPr>
          <p:cNvPr id="11" name="Text 7"/>
          <p:cNvSpPr/>
          <p:nvPr/>
        </p:nvSpPr>
        <p:spPr>
          <a:xfrm>
            <a:off x="6223000" y="5275511"/>
            <a:ext cx="531088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0CB"/>
                </a:solidFill>
                <a:latin typeface="Geist" pitchFamily="34" charset="0"/>
                <a:ea typeface="Geist" pitchFamily="34" charset="-122"/>
                <a:cs typeface="Geist" pitchFamily="34" charset="-120"/>
              </a:rPr>
              <a:t>Bin guide, resin codes 1–7, myth or fact, and a quiz.</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2377132"/>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ECONOMICS</a:t>
            </a:r>
            <a:endParaRPr lang="en-US" sz="1200" dirty="0"/>
          </a:p>
        </p:txBody>
      </p:sp>
      <p:sp>
        <p:nvSpPr>
          <p:cNvPr id="3" name="Text 1"/>
          <p:cNvSpPr/>
          <p:nvPr>
            <p:ph type="title"/>
          </p:nvPr>
        </p:nvSpPr>
        <p:spPr>
          <a:xfrm>
            <a:off x="812800" y="2768253"/>
            <a:ext cx="4185920"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Sorting right </a:t>
            </a:r>
            <a:r>
              <a:rPr lang="en-US" sz="3600" b="1" i="1" spc="-100" kern="0" dirty="0">
                <a:solidFill>
                  <a:srgbClr val="86D028"/>
                </a:solidFill>
                <a:latin typeface="Geist" pitchFamily="34" charset="0"/>
                <a:ea typeface="Geist" pitchFamily="34" charset="-122"/>
                <a:cs typeface="Geist" pitchFamily="34" charset="-120"/>
              </a:rPr>
              <a:t>pays</a:t>
            </a:r>
            <a:endParaRPr lang="en-US" sz="3600" dirty="0"/>
          </a:p>
        </p:txBody>
      </p:sp>
      <p:sp>
        <p:nvSpPr>
          <p:cNvPr id="4" name="Text 2"/>
          <p:cNvSpPr/>
          <p:nvPr/>
        </p:nvSpPr>
        <p:spPr>
          <a:xfrm>
            <a:off x="812800" y="3448943"/>
            <a:ext cx="418592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FD0CB"/>
                </a:solidFill>
                <a:latin typeface="Geist" pitchFamily="34" charset="0"/>
                <a:ea typeface="Geist" pitchFamily="34" charset="-122"/>
                <a:cs typeface="Geist" pitchFamily="34" charset="-120"/>
              </a:rPr>
              <a:t>Every scan shows what the item is worth to a local kabadiwala. Dirty items count at only 30%, so rinsing literally pays.</a:t>
            </a:r>
            <a:endParaRPr lang="en-US" sz="1500" dirty="0"/>
          </a:p>
        </p:txBody>
      </p:sp>
      <p:sp>
        <p:nvSpPr>
          <p:cNvPr id="5" name="Shape 3"/>
          <p:cNvSpPr/>
          <p:nvPr/>
        </p:nvSpPr>
        <p:spPr>
          <a:xfrm>
            <a:off x="5387975" y="1696740"/>
            <a:ext cx="5988050" cy="3261320"/>
          </a:xfrm>
          <a:prstGeom prst="roundRect">
            <a:avLst>
              <a:gd name="adj" fmla="val 4576"/>
            </a:avLst>
          </a:prstGeom>
          <a:noFill/>
          <a:ln w="6350">
            <a:solidFill>
              <a:srgbClr val="27424A"/>
            </a:solidFill>
            <a:prstDash val="solid"/>
          </a:ln>
        </p:spPr>
      </p:sp>
      <p:sp>
        <p:nvSpPr>
          <p:cNvPr id="6" name="Shape 4"/>
          <p:cNvSpPr/>
          <p:nvPr/>
        </p:nvSpPr>
        <p:spPr>
          <a:xfrm>
            <a:off x="5391150" y="1699915"/>
            <a:ext cx="5981700" cy="492720"/>
          </a:xfrm>
          <a:custGeom>
            <a:avLst/>
            <a:gdLst/>
            <a:ahLst/>
            <a:cxnLst/>
            <a:rect l="l" t="t" r="r" b="b"/>
            <a:pathLst>
              <a:path w="5981700" h="492720">
                <a:moveTo>
                  <a:pt x="0" y="146050"/>
                </a:moveTo>
                <a:arcTo hR="146050" wR="146050" stAng="10800000" swAng="5400000"/>
                <a:lnTo>
                  <a:pt x="5835650" y="0"/>
                </a:lnTo>
                <a:arcTo hR="146050" wR="146050" stAng="16200000" swAng="5400000"/>
                <a:lnTo>
                  <a:pt x="5981700" y="492720"/>
                </a:lnTo>
                <a:lnTo>
                  <a:pt x="0" y="492720"/>
                </a:lnTo>
                <a:close/>
              </a:path>
            </a:pathLst>
          </a:custGeom>
          <a:solidFill>
            <a:srgbClr val="1A363E"/>
          </a:solidFill>
          <a:ln/>
        </p:spPr>
      </p:sp>
      <p:sp>
        <p:nvSpPr>
          <p:cNvPr id="7" name="Text 5"/>
          <p:cNvSpPr/>
          <p:nvPr/>
        </p:nvSpPr>
        <p:spPr>
          <a:xfrm>
            <a:off x="5594350" y="1839615"/>
            <a:ext cx="28647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BB0AA"/>
                </a:solidFill>
                <a:latin typeface="Geist" pitchFamily="34" charset="0"/>
                <a:ea typeface="Geist" pitchFamily="34" charset="-122"/>
                <a:cs typeface="Geist" pitchFamily="34" charset="-120"/>
              </a:rPr>
              <a:t>ITEM</a:t>
            </a:r>
            <a:endParaRPr lang="en-US" sz="1200" dirty="0"/>
          </a:p>
        </p:txBody>
      </p:sp>
      <p:sp>
        <p:nvSpPr>
          <p:cNvPr id="8" name="Text 6"/>
          <p:cNvSpPr/>
          <p:nvPr/>
        </p:nvSpPr>
        <p:spPr>
          <a:xfrm>
            <a:off x="8375650" y="1839615"/>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BB0AA"/>
                </a:solidFill>
                <a:latin typeface="Geist" pitchFamily="34" charset="0"/>
                <a:ea typeface="Geist" pitchFamily="34" charset="-122"/>
                <a:cs typeface="Geist" pitchFamily="34" charset="-120"/>
              </a:rPr>
              <a:t>RATE</a:t>
            </a:r>
            <a:endParaRPr lang="en-US" sz="1200" dirty="0"/>
          </a:p>
        </p:txBody>
      </p:sp>
      <p:sp>
        <p:nvSpPr>
          <p:cNvPr id="9" name="Text 7"/>
          <p:cNvSpPr/>
          <p:nvPr/>
        </p:nvSpPr>
        <p:spPr>
          <a:xfrm>
            <a:off x="9899650" y="1839615"/>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BB0AA"/>
                </a:solidFill>
                <a:latin typeface="Geist" pitchFamily="34" charset="0"/>
                <a:ea typeface="Geist" pitchFamily="34" charset="-122"/>
                <a:cs typeface="Geist" pitchFamily="34" charset="-120"/>
              </a:rPr>
              <a:t>PER ITEM</a:t>
            </a:r>
            <a:endParaRPr lang="en-US" sz="1200" dirty="0"/>
          </a:p>
        </p:txBody>
      </p:sp>
      <p:sp>
        <p:nvSpPr>
          <p:cNvPr id="10" name="Shape 8"/>
          <p:cNvSpPr/>
          <p:nvPr/>
        </p:nvSpPr>
        <p:spPr>
          <a:xfrm>
            <a:off x="5391150" y="2195810"/>
            <a:ext cx="5981700" cy="0"/>
          </a:xfrm>
          <a:prstGeom prst="line">
            <a:avLst/>
          </a:prstGeom>
          <a:noFill/>
          <a:ln w="6350">
            <a:solidFill>
              <a:srgbClr val="27424A"/>
            </a:solidFill>
            <a:prstDash val="solid"/>
          </a:ln>
        </p:spPr>
      </p:sp>
      <p:sp>
        <p:nvSpPr>
          <p:cNvPr id="11" name="Text 9"/>
          <p:cNvSpPr/>
          <p:nvPr/>
        </p:nvSpPr>
        <p:spPr>
          <a:xfrm>
            <a:off x="5594350" y="2338685"/>
            <a:ext cx="286473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2"/>
                </a:solidFill>
                <a:latin typeface="Geist" pitchFamily="34" charset="0"/>
                <a:ea typeface="Geist" pitchFamily="34" charset="-122"/>
                <a:cs typeface="Geist" pitchFamily="34" charset="-120"/>
              </a:rPr>
              <a:t>PET bottle</a:t>
            </a:r>
            <a:endParaRPr lang="en-US" sz="1500" dirty="0"/>
          </a:p>
        </p:txBody>
      </p:sp>
      <p:sp>
        <p:nvSpPr>
          <p:cNvPr id="12" name="Text 10"/>
          <p:cNvSpPr/>
          <p:nvPr/>
        </p:nvSpPr>
        <p:spPr>
          <a:xfrm>
            <a:off x="8375650" y="2338685"/>
            <a:ext cx="157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CB"/>
                </a:solidFill>
                <a:latin typeface="Geist" pitchFamily="34" charset="0"/>
                <a:ea typeface="Geist" pitchFamily="34" charset="-122"/>
                <a:cs typeface="Geist" pitchFamily="34" charset="-120"/>
              </a:rPr>
              <a:t>₹15/kg</a:t>
            </a:r>
            <a:endParaRPr lang="en-US" sz="1500" dirty="0"/>
          </a:p>
        </p:txBody>
      </p:sp>
      <p:sp>
        <p:nvSpPr>
          <p:cNvPr id="13" name="Text 11"/>
          <p:cNvSpPr/>
          <p:nvPr/>
        </p:nvSpPr>
        <p:spPr>
          <a:xfrm>
            <a:off x="9899650" y="233868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6D028"/>
                </a:solidFill>
                <a:latin typeface="Geist" pitchFamily="34" charset="0"/>
                <a:ea typeface="Geist" pitchFamily="34" charset="-122"/>
                <a:cs typeface="Geist" pitchFamily="34" charset="-120"/>
              </a:rPr>
              <a:t>≈ ₹0.38</a:t>
            </a:r>
            <a:endParaRPr lang="en-US" sz="1500" dirty="0"/>
          </a:p>
        </p:txBody>
      </p:sp>
      <p:sp>
        <p:nvSpPr>
          <p:cNvPr id="14" name="Shape 12"/>
          <p:cNvSpPr/>
          <p:nvPr/>
        </p:nvSpPr>
        <p:spPr>
          <a:xfrm>
            <a:off x="5391150" y="2745085"/>
            <a:ext cx="5981700" cy="552450"/>
          </a:xfrm>
          <a:prstGeom prst="rect">
            <a:avLst/>
          </a:prstGeom>
          <a:solidFill>
            <a:srgbClr val="152D34"/>
          </a:solidFill>
          <a:ln/>
        </p:spPr>
      </p:sp>
      <p:sp>
        <p:nvSpPr>
          <p:cNvPr id="15" name="Shape 13"/>
          <p:cNvSpPr/>
          <p:nvPr/>
        </p:nvSpPr>
        <p:spPr>
          <a:xfrm>
            <a:off x="5391150" y="2748260"/>
            <a:ext cx="5981700" cy="0"/>
          </a:xfrm>
          <a:prstGeom prst="line">
            <a:avLst/>
          </a:prstGeom>
          <a:noFill/>
          <a:ln w="6350">
            <a:solidFill>
              <a:srgbClr val="27424A"/>
            </a:solidFill>
            <a:prstDash val="solid"/>
          </a:ln>
        </p:spPr>
      </p:sp>
      <p:sp>
        <p:nvSpPr>
          <p:cNvPr id="16" name="Text 14"/>
          <p:cNvSpPr/>
          <p:nvPr/>
        </p:nvSpPr>
        <p:spPr>
          <a:xfrm>
            <a:off x="5594350" y="2891135"/>
            <a:ext cx="286473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2"/>
                </a:solidFill>
                <a:latin typeface="Geist" pitchFamily="34" charset="0"/>
                <a:ea typeface="Geist" pitchFamily="34" charset="-122"/>
                <a:cs typeface="Geist" pitchFamily="34" charset="-120"/>
              </a:rPr>
              <a:t>Aluminium can</a:t>
            </a:r>
            <a:endParaRPr lang="en-US" sz="1500" dirty="0"/>
          </a:p>
        </p:txBody>
      </p:sp>
      <p:sp>
        <p:nvSpPr>
          <p:cNvPr id="17" name="Text 15"/>
          <p:cNvSpPr/>
          <p:nvPr/>
        </p:nvSpPr>
        <p:spPr>
          <a:xfrm>
            <a:off x="8375650" y="2891135"/>
            <a:ext cx="157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CB"/>
                </a:solidFill>
                <a:latin typeface="Geist" pitchFamily="34" charset="0"/>
                <a:ea typeface="Geist" pitchFamily="34" charset="-122"/>
                <a:cs typeface="Geist" pitchFamily="34" charset="-120"/>
              </a:rPr>
              <a:t>₹110/kg</a:t>
            </a:r>
            <a:endParaRPr lang="en-US" sz="1500" dirty="0"/>
          </a:p>
        </p:txBody>
      </p:sp>
      <p:sp>
        <p:nvSpPr>
          <p:cNvPr id="18" name="Text 16"/>
          <p:cNvSpPr/>
          <p:nvPr/>
        </p:nvSpPr>
        <p:spPr>
          <a:xfrm>
            <a:off x="9899650" y="28911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6D028"/>
                </a:solidFill>
                <a:latin typeface="Geist" pitchFamily="34" charset="0"/>
                <a:ea typeface="Geist" pitchFamily="34" charset="-122"/>
                <a:cs typeface="Geist" pitchFamily="34" charset="-120"/>
              </a:rPr>
              <a:t>≈ ₹1.65</a:t>
            </a:r>
            <a:endParaRPr lang="en-US" sz="1500" dirty="0"/>
          </a:p>
        </p:txBody>
      </p:sp>
      <p:sp>
        <p:nvSpPr>
          <p:cNvPr id="19" name="Shape 17"/>
          <p:cNvSpPr/>
          <p:nvPr/>
        </p:nvSpPr>
        <p:spPr>
          <a:xfrm>
            <a:off x="5391150" y="3300710"/>
            <a:ext cx="5981700" cy="0"/>
          </a:xfrm>
          <a:prstGeom prst="line">
            <a:avLst/>
          </a:prstGeom>
          <a:noFill/>
          <a:ln w="6350">
            <a:solidFill>
              <a:srgbClr val="27424A"/>
            </a:solidFill>
            <a:prstDash val="solid"/>
          </a:ln>
        </p:spPr>
      </p:sp>
      <p:sp>
        <p:nvSpPr>
          <p:cNvPr id="20" name="Text 18"/>
          <p:cNvSpPr/>
          <p:nvPr/>
        </p:nvSpPr>
        <p:spPr>
          <a:xfrm>
            <a:off x="5594350" y="3443585"/>
            <a:ext cx="286473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2"/>
                </a:solidFill>
                <a:latin typeface="Geist" pitchFamily="34" charset="0"/>
                <a:ea typeface="Geist" pitchFamily="34" charset="-122"/>
                <a:cs typeface="Geist" pitchFamily="34" charset="-120"/>
              </a:rPr>
              <a:t>Newspaper (100 g)</a:t>
            </a:r>
            <a:endParaRPr lang="en-US" sz="1500" dirty="0"/>
          </a:p>
        </p:txBody>
      </p:sp>
      <p:sp>
        <p:nvSpPr>
          <p:cNvPr id="21" name="Text 19"/>
          <p:cNvSpPr/>
          <p:nvPr/>
        </p:nvSpPr>
        <p:spPr>
          <a:xfrm>
            <a:off x="8375650" y="3443585"/>
            <a:ext cx="157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CB"/>
                </a:solidFill>
                <a:latin typeface="Geist" pitchFamily="34" charset="0"/>
                <a:ea typeface="Geist" pitchFamily="34" charset="-122"/>
                <a:cs typeface="Geist" pitchFamily="34" charset="-120"/>
              </a:rPr>
              <a:t>₹13/kg</a:t>
            </a:r>
            <a:endParaRPr lang="en-US" sz="1500" dirty="0"/>
          </a:p>
        </p:txBody>
      </p:sp>
      <p:sp>
        <p:nvSpPr>
          <p:cNvPr id="22" name="Text 20"/>
          <p:cNvSpPr/>
          <p:nvPr/>
        </p:nvSpPr>
        <p:spPr>
          <a:xfrm>
            <a:off x="9899650" y="344358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6D028"/>
                </a:solidFill>
                <a:latin typeface="Geist" pitchFamily="34" charset="0"/>
                <a:ea typeface="Geist" pitchFamily="34" charset="-122"/>
                <a:cs typeface="Geist" pitchFamily="34" charset="-120"/>
              </a:rPr>
              <a:t>≈ ₹1.30</a:t>
            </a:r>
            <a:endParaRPr lang="en-US" sz="1500" dirty="0"/>
          </a:p>
        </p:txBody>
      </p:sp>
      <p:sp>
        <p:nvSpPr>
          <p:cNvPr id="23" name="Shape 21"/>
          <p:cNvSpPr/>
          <p:nvPr/>
        </p:nvSpPr>
        <p:spPr>
          <a:xfrm>
            <a:off x="5391150" y="3849985"/>
            <a:ext cx="5981700" cy="552450"/>
          </a:xfrm>
          <a:prstGeom prst="rect">
            <a:avLst/>
          </a:prstGeom>
          <a:solidFill>
            <a:srgbClr val="152D34"/>
          </a:solidFill>
          <a:ln/>
        </p:spPr>
      </p:sp>
      <p:sp>
        <p:nvSpPr>
          <p:cNvPr id="24" name="Shape 22"/>
          <p:cNvSpPr/>
          <p:nvPr/>
        </p:nvSpPr>
        <p:spPr>
          <a:xfrm>
            <a:off x="5391150" y="3853160"/>
            <a:ext cx="5981700" cy="0"/>
          </a:xfrm>
          <a:prstGeom prst="line">
            <a:avLst/>
          </a:prstGeom>
          <a:noFill/>
          <a:ln w="6350">
            <a:solidFill>
              <a:srgbClr val="27424A"/>
            </a:solidFill>
            <a:prstDash val="solid"/>
          </a:ln>
        </p:spPr>
      </p:sp>
      <p:sp>
        <p:nvSpPr>
          <p:cNvPr id="25" name="Text 23"/>
          <p:cNvSpPr/>
          <p:nvPr/>
        </p:nvSpPr>
        <p:spPr>
          <a:xfrm>
            <a:off x="5594350" y="3996035"/>
            <a:ext cx="286473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2"/>
                </a:solidFill>
                <a:latin typeface="Geist" pitchFamily="34" charset="0"/>
                <a:ea typeface="Geist" pitchFamily="34" charset="-122"/>
                <a:cs typeface="Geist" pitchFamily="34" charset="-120"/>
              </a:rPr>
              <a:t>Cardboard</a:t>
            </a:r>
            <a:endParaRPr lang="en-US" sz="1500" dirty="0"/>
          </a:p>
        </p:txBody>
      </p:sp>
      <p:sp>
        <p:nvSpPr>
          <p:cNvPr id="26" name="Text 24"/>
          <p:cNvSpPr/>
          <p:nvPr/>
        </p:nvSpPr>
        <p:spPr>
          <a:xfrm>
            <a:off x="8375650" y="3996035"/>
            <a:ext cx="157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CB"/>
                </a:solidFill>
                <a:latin typeface="Geist" pitchFamily="34" charset="0"/>
                <a:ea typeface="Geist" pitchFamily="34" charset="-122"/>
                <a:cs typeface="Geist" pitchFamily="34" charset="-120"/>
              </a:rPr>
              <a:t>₹9/kg</a:t>
            </a:r>
            <a:endParaRPr lang="en-US" sz="1500" dirty="0"/>
          </a:p>
        </p:txBody>
      </p:sp>
      <p:sp>
        <p:nvSpPr>
          <p:cNvPr id="27" name="Text 25"/>
          <p:cNvSpPr/>
          <p:nvPr/>
        </p:nvSpPr>
        <p:spPr>
          <a:xfrm>
            <a:off x="9899650" y="399603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6D028"/>
                </a:solidFill>
                <a:latin typeface="Geist" pitchFamily="34" charset="0"/>
                <a:ea typeface="Geist" pitchFamily="34" charset="-122"/>
                <a:cs typeface="Geist" pitchFamily="34" charset="-120"/>
              </a:rPr>
              <a:t>by weight</a:t>
            </a:r>
            <a:endParaRPr lang="en-US" sz="1500" dirty="0"/>
          </a:p>
        </p:txBody>
      </p:sp>
      <p:sp>
        <p:nvSpPr>
          <p:cNvPr id="28" name="Shape 26"/>
          <p:cNvSpPr/>
          <p:nvPr/>
        </p:nvSpPr>
        <p:spPr>
          <a:xfrm>
            <a:off x="5391150" y="4402435"/>
            <a:ext cx="5981700" cy="552450"/>
          </a:xfrm>
          <a:custGeom>
            <a:avLst/>
            <a:gdLst/>
            <a:ahLst/>
            <a:cxnLst/>
            <a:rect l="l" t="t" r="r" b="b"/>
            <a:pathLst>
              <a:path w="5981700" h="552450">
                <a:moveTo>
                  <a:pt x="0" y="0"/>
                </a:moveTo>
                <a:lnTo>
                  <a:pt x="5981700" y="0"/>
                </a:lnTo>
                <a:lnTo>
                  <a:pt x="5981700" y="6350"/>
                </a:lnTo>
                <a:lnTo>
                  <a:pt x="0" y="6350"/>
                </a:lnTo>
                <a:lnTo>
                  <a:pt x="0" y="0"/>
                </a:lnTo>
                <a:close/>
              </a:path>
            </a:pathLst>
          </a:custGeom>
          <a:solidFill>
            <a:srgbClr val="27424A"/>
          </a:solidFill>
          <a:ln/>
        </p:spPr>
      </p:sp>
      <p:sp>
        <p:nvSpPr>
          <p:cNvPr id="29" name="Text 27"/>
          <p:cNvSpPr/>
          <p:nvPr/>
        </p:nvSpPr>
        <p:spPr>
          <a:xfrm>
            <a:off x="5594350" y="4548485"/>
            <a:ext cx="286473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F6F2"/>
                </a:solidFill>
                <a:latin typeface="Geist" pitchFamily="34" charset="0"/>
                <a:ea typeface="Geist" pitchFamily="34" charset="-122"/>
                <a:cs typeface="Geist" pitchFamily="34" charset="-120"/>
              </a:rPr>
              <a:t>Old phone</a:t>
            </a:r>
            <a:endParaRPr lang="en-US" sz="1500" dirty="0"/>
          </a:p>
        </p:txBody>
      </p:sp>
      <p:sp>
        <p:nvSpPr>
          <p:cNvPr id="30" name="Text 28"/>
          <p:cNvSpPr/>
          <p:nvPr/>
        </p:nvSpPr>
        <p:spPr>
          <a:xfrm>
            <a:off x="8375650" y="4548485"/>
            <a:ext cx="157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0CB"/>
                </a:solidFill>
                <a:latin typeface="Geist" pitchFamily="34" charset="0"/>
                <a:ea typeface="Geist" pitchFamily="34" charset="-122"/>
                <a:cs typeface="Geist" pitchFamily="34" charset="-120"/>
              </a:rPr>
              <a:t>per piece</a:t>
            </a:r>
            <a:endParaRPr lang="en-US" sz="1500" dirty="0"/>
          </a:p>
        </p:txBody>
      </p:sp>
      <p:sp>
        <p:nvSpPr>
          <p:cNvPr id="31" name="Text 29"/>
          <p:cNvSpPr/>
          <p:nvPr/>
        </p:nvSpPr>
        <p:spPr>
          <a:xfrm>
            <a:off x="9899650" y="4548485"/>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86D028"/>
                </a:solidFill>
                <a:latin typeface="Geist" pitchFamily="34" charset="0"/>
                <a:ea typeface="Geist" pitchFamily="34" charset="-122"/>
                <a:cs typeface="Geist" pitchFamily="34" charset="-120"/>
              </a:rPr>
              <a:t>₹120</a:t>
            </a:r>
            <a:endParaRPr lang="en-US" sz="15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8A84"/>
                </a:solidFill>
                <a:latin typeface="Geist" pitchFamily="34" charset="0"/>
                <a:ea typeface="Geist" pitchFamily="34" charset="-122"/>
                <a:cs typeface="Geist" pitchFamily="34" charset="-120"/>
              </a:rPr>
              <a:t>Indian scrap rates, Aug 2026: kabadidost.in, scrapbuddy.org, kabadiwalaonline.in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91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LIVE DEMO</a:t>
            </a:r>
            <a:endParaRPr lang="en-US" sz="1200" dirty="0"/>
          </a:p>
        </p:txBody>
      </p:sp>
      <p:sp>
        <p:nvSpPr>
          <p:cNvPr id="3" name="Text 1"/>
          <p:cNvSpPr/>
          <p:nvPr>
            <p:ph type="title"/>
          </p:nvPr>
        </p:nvSpPr>
        <p:spPr>
          <a:xfrm>
            <a:off x="812800" y="1153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Let’s scan a real pile</a:t>
            </a:r>
            <a:endParaRPr lang="en-US" sz="3600" dirty="0"/>
          </a:p>
        </p:txBody>
      </p:sp>
      <p:sp>
        <p:nvSpPr>
          <p:cNvPr id="4" name="Shape 2"/>
          <p:cNvSpPr/>
          <p:nvPr/>
        </p:nvSpPr>
        <p:spPr>
          <a:xfrm>
            <a:off x="815975" y="2035175"/>
            <a:ext cx="10560050" cy="603250"/>
          </a:xfrm>
          <a:prstGeom prst="roundRect">
            <a:avLst>
              <a:gd name="adj" fmla="val 20526"/>
            </a:avLst>
          </a:prstGeom>
          <a:solidFill>
            <a:srgbClr val="12262C"/>
          </a:solidFill>
          <a:ln w="6350">
            <a:solidFill>
              <a:srgbClr val="23393F"/>
            </a:solidFill>
            <a:prstDash val="solid"/>
          </a:ln>
        </p:spPr>
      </p:sp>
      <p:sp>
        <p:nvSpPr>
          <p:cNvPr id="5" name="Text 3"/>
          <p:cNvSpPr/>
          <p:nvPr/>
        </p:nvSpPr>
        <p:spPr>
          <a:xfrm>
            <a:off x="1047750" y="2159000"/>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6D028"/>
                </a:solidFill>
                <a:latin typeface="Geist" pitchFamily="34" charset="0"/>
                <a:ea typeface="Geist" pitchFamily="34" charset="-122"/>
                <a:cs typeface="Geist" pitchFamily="34" charset="-120"/>
              </a:rPr>
              <a:t>1</a:t>
            </a:r>
            <a:endParaRPr lang="en-US" sz="2000" dirty="0"/>
          </a:p>
        </p:txBody>
      </p:sp>
      <p:sp>
        <p:nvSpPr>
          <p:cNvPr id="6" name="Text 4"/>
          <p:cNvSpPr/>
          <p:nvPr/>
        </p:nvSpPr>
        <p:spPr>
          <a:xfrm>
            <a:off x="1631950" y="2194570"/>
            <a:ext cx="36776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1F6F2"/>
                </a:solidFill>
                <a:latin typeface="Geist" pitchFamily="34" charset="0"/>
                <a:ea typeface="Geist" pitchFamily="34" charset="-122"/>
                <a:cs typeface="Geist" pitchFamily="34" charset="-120"/>
              </a:rPr>
              <a:t>Open the landing page and log in</a:t>
            </a:r>
            <a:endParaRPr lang="en-US" sz="1600" dirty="0"/>
          </a:p>
        </p:txBody>
      </p:sp>
      <p:sp>
        <p:nvSpPr>
          <p:cNvPr id="7" name="Shape 5"/>
          <p:cNvSpPr/>
          <p:nvPr/>
        </p:nvSpPr>
        <p:spPr>
          <a:xfrm>
            <a:off x="815975" y="2771775"/>
            <a:ext cx="10560050" cy="603250"/>
          </a:xfrm>
          <a:prstGeom prst="roundRect">
            <a:avLst>
              <a:gd name="adj" fmla="val 20526"/>
            </a:avLst>
          </a:prstGeom>
          <a:solidFill>
            <a:srgbClr val="12262C"/>
          </a:solidFill>
          <a:ln w="6350">
            <a:solidFill>
              <a:srgbClr val="23393F"/>
            </a:solidFill>
            <a:prstDash val="solid"/>
          </a:ln>
        </p:spPr>
      </p:sp>
      <p:sp>
        <p:nvSpPr>
          <p:cNvPr id="8" name="Text 6"/>
          <p:cNvSpPr/>
          <p:nvPr/>
        </p:nvSpPr>
        <p:spPr>
          <a:xfrm>
            <a:off x="1047750" y="2895600"/>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6D028"/>
                </a:solidFill>
                <a:latin typeface="Geist" pitchFamily="34" charset="0"/>
                <a:ea typeface="Geist" pitchFamily="34" charset="-122"/>
                <a:cs typeface="Geist" pitchFamily="34" charset="-120"/>
              </a:rPr>
              <a:t>2</a:t>
            </a:r>
            <a:endParaRPr lang="en-US" sz="2000" dirty="0"/>
          </a:p>
        </p:txBody>
      </p:sp>
      <p:sp>
        <p:nvSpPr>
          <p:cNvPr id="9" name="Text 7"/>
          <p:cNvSpPr/>
          <p:nvPr/>
        </p:nvSpPr>
        <p:spPr>
          <a:xfrm>
            <a:off x="1631950" y="2931170"/>
            <a:ext cx="721429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1F6F2"/>
                </a:solidFill>
                <a:latin typeface="Geist" pitchFamily="34" charset="0"/>
                <a:ea typeface="Geist" pitchFamily="34" charset="-122"/>
                <a:cs typeface="Geist" pitchFamily="34" charset="-120"/>
              </a:rPr>
              <a:t>Photograph a mixed pile: boxes, values and a hazard alert appear</a:t>
            </a:r>
            <a:endParaRPr lang="en-US" sz="1600" dirty="0"/>
          </a:p>
        </p:txBody>
      </p:sp>
      <p:sp>
        <p:nvSpPr>
          <p:cNvPr id="10" name="Shape 8"/>
          <p:cNvSpPr/>
          <p:nvPr/>
        </p:nvSpPr>
        <p:spPr>
          <a:xfrm>
            <a:off x="815975" y="3508375"/>
            <a:ext cx="10560050" cy="603250"/>
          </a:xfrm>
          <a:prstGeom prst="roundRect">
            <a:avLst>
              <a:gd name="adj" fmla="val 20526"/>
            </a:avLst>
          </a:prstGeom>
          <a:solidFill>
            <a:srgbClr val="12262C"/>
          </a:solidFill>
          <a:ln w="6350">
            <a:solidFill>
              <a:srgbClr val="23393F"/>
            </a:solidFill>
            <a:prstDash val="solid"/>
          </a:ln>
        </p:spPr>
      </p:sp>
      <p:sp>
        <p:nvSpPr>
          <p:cNvPr id="11" name="Text 9"/>
          <p:cNvSpPr/>
          <p:nvPr/>
        </p:nvSpPr>
        <p:spPr>
          <a:xfrm>
            <a:off x="1047750" y="3632200"/>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86D028"/>
                </a:solidFill>
                <a:latin typeface="Geist" pitchFamily="34" charset="0"/>
                <a:ea typeface="Geist" pitchFamily="34" charset="-122"/>
                <a:cs typeface="Geist" pitchFamily="34" charset="-120"/>
              </a:rPr>
              <a:t>3</a:t>
            </a:r>
            <a:endParaRPr lang="en-US" sz="2000" dirty="0"/>
          </a:p>
        </p:txBody>
      </p:sp>
      <p:sp>
        <p:nvSpPr>
          <p:cNvPr id="12" name="Text 10"/>
          <p:cNvSpPr/>
          <p:nvPr/>
        </p:nvSpPr>
        <p:spPr>
          <a:xfrm>
            <a:off x="1631950" y="3667770"/>
            <a:ext cx="510772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1F6F2"/>
                </a:solidFill>
                <a:latin typeface="Geist" pitchFamily="34" charset="0"/>
                <a:ea typeface="Geist" pitchFamily="34" charset="-122"/>
                <a:cs typeface="Geist" pitchFamily="34" charset="-120"/>
              </a:rPr>
              <a:t>Open the twin and drag the segregation slider</a:t>
            </a:r>
            <a:endParaRPr lang="en-US" sz="1600" dirty="0"/>
          </a:p>
        </p:txBody>
      </p:sp>
      <p:sp>
        <p:nvSpPr>
          <p:cNvPr id="13" name="Shape 11"/>
          <p:cNvSpPr/>
          <p:nvPr/>
        </p:nvSpPr>
        <p:spPr>
          <a:xfrm>
            <a:off x="812800" y="4241800"/>
            <a:ext cx="10566400" cy="609600"/>
          </a:xfrm>
          <a:prstGeom prst="roundRect">
            <a:avLst>
              <a:gd name="adj" fmla="val 20833"/>
            </a:avLst>
          </a:prstGeom>
          <a:solidFill>
            <a:srgbClr val="86D028"/>
          </a:solidFill>
          <a:ln/>
        </p:spPr>
      </p:sp>
      <p:sp>
        <p:nvSpPr>
          <p:cNvPr id="14" name="Text 12"/>
          <p:cNvSpPr/>
          <p:nvPr/>
        </p:nvSpPr>
        <p:spPr>
          <a:xfrm>
            <a:off x="1041400" y="4368800"/>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191E"/>
                </a:solidFill>
                <a:latin typeface="Geist" pitchFamily="34" charset="0"/>
                <a:ea typeface="Geist" pitchFamily="34" charset="-122"/>
                <a:cs typeface="Geist" pitchFamily="34" charset="-120"/>
              </a:rPr>
              <a:t>4</a:t>
            </a:r>
            <a:endParaRPr lang="en-US" sz="2000" dirty="0"/>
          </a:p>
        </p:txBody>
      </p:sp>
      <p:sp>
        <p:nvSpPr>
          <p:cNvPr id="15" name="Text 13"/>
          <p:cNvSpPr/>
          <p:nvPr/>
        </p:nvSpPr>
        <p:spPr>
          <a:xfrm>
            <a:off x="1625600" y="4404370"/>
            <a:ext cx="498211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191E"/>
                </a:solidFill>
                <a:latin typeface="Geist" pitchFamily="34" charset="0"/>
                <a:ea typeface="Geist" pitchFamily="34" charset="-122"/>
                <a:cs typeface="Geist" pitchFamily="34" charset="-120"/>
              </a:rPr>
              <a:t>Ask the coach in Kannada and play it aloud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22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86D028"/>
                </a:solidFill>
                <a:latin typeface="Geist" pitchFamily="34" charset="0"/>
                <a:ea typeface="Geist" pitchFamily="34" charset="-122"/>
                <a:cs typeface="Geist" pitchFamily="34" charset="-120"/>
              </a:rPr>
              <a:t>WHAT’S NEXT</a:t>
            </a:r>
            <a:endParaRPr lang="en-US" sz="1200" dirty="0"/>
          </a:p>
        </p:txBody>
      </p:sp>
      <p:sp>
        <p:nvSpPr>
          <p:cNvPr id="3" name="Text 1"/>
          <p:cNvSpPr/>
          <p:nvPr>
            <p:ph type="title"/>
          </p:nvPr>
        </p:nvSpPr>
        <p:spPr>
          <a:xfrm>
            <a:off x="812800" y="1153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spc="-100" kern="0" dirty="0">
                <a:solidFill>
                  <a:srgbClr val="F1F6F2"/>
                </a:solidFill>
                <a:latin typeface="Geist" pitchFamily="34" charset="0"/>
                <a:ea typeface="Geist" pitchFamily="34" charset="-122"/>
                <a:cs typeface="Geist" pitchFamily="34" charset="-120"/>
              </a:rPr>
              <a:t>From one home to a whole ward</a:t>
            </a:r>
            <a:endParaRPr lang="en-US" sz="3600" dirty="0"/>
          </a:p>
        </p:txBody>
      </p:sp>
      <p:pic>
        <p:nvPicPr>
          <p:cNvPr id="4" name="Image 0" descr="line">    </p:cNvPr>
          <p:cNvPicPr>
            <a:picLocks noChangeAspect="1"/>
          </p:cNvPicPr>
          <p:nvPr/>
        </p:nvPicPr>
        <p:blipFill>
          <a:blip r:embed="rId1"/>
          <a:srcRect l="0" r="0" t="0" b="0"/>
          <a:stretch/>
        </p:blipFill>
        <p:spPr>
          <a:xfrm>
            <a:off x="812800" y="2260600"/>
            <a:ext cx="10566400" cy="25400"/>
          </a:xfrm>
          <a:prstGeom prst="rect">
            <a:avLst/>
          </a:prstGeom>
        </p:spPr>
      </p:pic>
      <p:sp>
        <p:nvSpPr>
          <p:cNvPr id="5" name="Shape 2"/>
          <p:cNvSpPr/>
          <p:nvPr/>
        </p:nvSpPr>
        <p:spPr>
          <a:xfrm>
            <a:off x="815975" y="2543175"/>
            <a:ext cx="2501900" cy="2089150"/>
          </a:xfrm>
          <a:prstGeom prst="roundRect">
            <a:avLst>
              <a:gd name="adj" fmla="val 7143"/>
            </a:avLst>
          </a:prstGeom>
          <a:solidFill>
            <a:srgbClr val="152D34"/>
          </a:solidFill>
          <a:ln w="6350">
            <a:solidFill>
              <a:srgbClr val="27424A"/>
            </a:solidFill>
            <a:prstDash val="solid"/>
          </a:ln>
        </p:spPr>
      </p:sp>
      <p:pic>
        <p:nvPicPr>
          <p:cNvPr id="6" name="Image 1" descr="Search">    </p:cNvPr>
          <p:cNvPicPr>
            <a:picLocks noChangeAspect="1"/>
          </p:cNvPicPr>
          <p:nvPr/>
        </p:nvPicPr>
        <p:blipFill>
          <a:blip r:embed="rId2"/>
          <a:srcRect l="0" r="0" t="0" b="0"/>
          <a:stretch/>
        </p:blipFill>
        <p:spPr>
          <a:xfrm>
            <a:off x="1073150" y="2800350"/>
            <a:ext cx="304800" cy="304800"/>
          </a:xfrm>
          <a:prstGeom prst="rect">
            <a:avLst/>
          </a:prstGeom>
        </p:spPr>
      </p:pic>
      <p:sp>
        <p:nvSpPr>
          <p:cNvPr id="7" name="Text 3"/>
          <p:cNvSpPr/>
          <p:nvPr/>
        </p:nvSpPr>
        <p:spPr>
          <a:xfrm>
            <a:off x="1073150" y="3206750"/>
            <a:ext cx="204717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Live camera</a:t>
            </a:r>
            <a:endParaRPr lang="en-US" sz="1800" dirty="0"/>
          </a:p>
        </p:txBody>
      </p:sp>
      <p:sp>
        <p:nvSpPr>
          <p:cNvPr id="8" name="Text 4"/>
          <p:cNvSpPr/>
          <p:nvPr/>
        </p:nvSpPr>
        <p:spPr>
          <a:xfrm>
            <a:off x="1073150" y="3582640"/>
            <a:ext cx="20471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D0CB"/>
                </a:solidFill>
                <a:latin typeface="Geist" pitchFamily="34" charset="0"/>
                <a:ea typeface="Geist" pitchFamily="34" charset="-122"/>
                <a:cs typeface="Geist" pitchFamily="34" charset="-120"/>
              </a:rPr>
              <a:t>Point and sort in real time, no photo needed.</a:t>
            </a:r>
            <a:endParaRPr lang="en-US" sz="1300" dirty="0"/>
          </a:p>
        </p:txBody>
      </p:sp>
      <p:sp>
        <p:nvSpPr>
          <p:cNvPr id="9" name="Shape 5"/>
          <p:cNvSpPr/>
          <p:nvPr/>
        </p:nvSpPr>
        <p:spPr>
          <a:xfrm>
            <a:off x="3502025" y="2543175"/>
            <a:ext cx="2501900" cy="2089150"/>
          </a:xfrm>
          <a:prstGeom prst="roundRect">
            <a:avLst>
              <a:gd name="adj" fmla="val 7143"/>
            </a:avLst>
          </a:prstGeom>
          <a:solidFill>
            <a:srgbClr val="152D34"/>
          </a:solidFill>
          <a:ln w="6350">
            <a:solidFill>
              <a:srgbClr val="27424A"/>
            </a:solidFill>
            <a:prstDash val="solid"/>
          </a:ln>
        </p:spPr>
      </p:sp>
      <p:pic>
        <p:nvPicPr>
          <p:cNvPr id="10" name="Image 2" descr="Lightning">    </p:cNvPr>
          <p:cNvPicPr>
            <a:picLocks noChangeAspect="1"/>
          </p:cNvPicPr>
          <p:nvPr/>
        </p:nvPicPr>
        <p:blipFill>
          <a:blip r:embed="rId3"/>
          <a:srcRect l="0" r="0" t="0" b="0"/>
          <a:stretch/>
        </p:blipFill>
        <p:spPr>
          <a:xfrm>
            <a:off x="3759200" y="2800350"/>
            <a:ext cx="304800" cy="304800"/>
          </a:xfrm>
          <a:prstGeom prst="rect">
            <a:avLst/>
          </a:prstGeom>
        </p:spPr>
      </p:pic>
      <p:sp>
        <p:nvSpPr>
          <p:cNvPr id="11" name="Text 6"/>
          <p:cNvSpPr/>
          <p:nvPr/>
        </p:nvSpPr>
        <p:spPr>
          <a:xfrm>
            <a:off x="3759200" y="3206750"/>
            <a:ext cx="204717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Smart bins</a:t>
            </a:r>
            <a:endParaRPr lang="en-US" sz="1800" dirty="0"/>
          </a:p>
        </p:txBody>
      </p:sp>
      <p:sp>
        <p:nvSpPr>
          <p:cNvPr id="12" name="Text 7"/>
          <p:cNvSpPr/>
          <p:nvPr/>
        </p:nvSpPr>
        <p:spPr>
          <a:xfrm>
            <a:off x="3759200" y="3582640"/>
            <a:ext cx="204717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D0CB"/>
                </a:solidFill>
                <a:latin typeface="Geist" pitchFamily="34" charset="0"/>
                <a:ea typeface="Geist" pitchFamily="34" charset="-122"/>
                <a:cs typeface="Geist" pitchFamily="34" charset="-120"/>
              </a:rPr>
              <a:t>Weight sensors make the twin fully live.</a:t>
            </a:r>
            <a:endParaRPr lang="en-US" sz="1300" dirty="0"/>
          </a:p>
        </p:txBody>
      </p:sp>
      <p:sp>
        <p:nvSpPr>
          <p:cNvPr id="13" name="Shape 8"/>
          <p:cNvSpPr/>
          <p:nvPr/>
        </p:nvSpPr>
        <p:spPr>
          <a:xfrm>
            <a:off x="6188075" y="2543175"/>
            <a:ext cx="2501900" cy="2089150"/>
          </a:xfrm>
          <a:prstGeom prst="roundRect">
            <a:avLst>
              <a:gd name="adj" fmla="val 7143"/>
            </a:avLst>
          </a:prstGeom>
          <a:solidFill>
            <a:srgbClr val="152D34"/>
          </a:solidFill>
          <a:ln w="6350">
            <a:solidFill>
              <a:srgbClr val="27424A"/>
            </a:solidFill>
            <a:prstDash val="solid"/>
          </a:ln>
        </p:spPr>
      </p:sp>
      <p:pic>
        <p:nvPicPr>
          <p:cNvPr id="14" name="Image 3" descr="Globe">    </p:cNvPr>
          <p:cNvPicPr>
            <a:picLocks noChangeAspect="1"/>
          </p:cNvPicPr>
          <p:nvPr/>
        </p:nvPicPr>
        <p:blipFill>
          <a:blip r:embed="rId4"/>
          <a:srcRect l="0" r="0" t="0" b="0"/>
          <a:stretch/>
        </p:blipFill>
        <p:spPr>
          <a:xfrm>
            <a:off x="6445250" y="2800350"/>
            <a:ext cx="304800" cy="304800"/>
          </a:xfrm>
          <a:prstGeom prst="rect">
            <a:avLst/>
          </a:prstGeom>
        </p:spPr>
      </p:pic>
      <p:sp>
        <p:nvSpPr>
          <p:cNvPr id="15" name="Text 9"/>
          <p:cNvSpPr/>
          <p:nvPr/>
        </p:nvSpPr>
        <p:spPr>
          <a:xfrm>
            <a:off x="6445250" y="3206750"/>
            <a:ext cx="204717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F6F2"/>
                </a:solidFill>
                <a:latin typeface="Geist" pitchFamily="34" charset="0"/>
                <a:ea typeface="Geist" pitchFamily="34" charset="-122"/>
                <a:cs typeface="Geist" pitchFamily="34" charset="-120"/>
              </a:rPr>
              <a:t>Ward twins</a:t>
            </a:r>
            <a:endParaRPr lang="en-US" sz="1800" dirty="0"/>
          </a:p>
        </p:txBody>
      </p:sp>
      <p:sp>
        <p:nvSpPr>
          <p:cNvPr id="16" name="Text 10"/>
          <p:cNvSpPr/>
          <p:nvPr/>
        </p:nvSpPr>
        <p:spPr>
          <a:xfrm>
            <a:off x="6445250" y="3582640"/>
            <a:ext cx="2047176"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D0CB"/>
                </a:solidFill>
                <a:latin typeface="Geist" pitchFamily="34" charset="0"/>
                <a:ea typeface="Geist" pitchFamily="34" charset="-122"/>
                <a:cs typeface="Geist" pitchFamily="34" charset="-120"/>
              </a:rPr>
              <a:t>Dashboards for municipalities, campuses and dry waste centres.</a:t>
            </a:r>
            <a:endParaRPr lang="en-US" sz="1300" dirty="0"/>
          </a:p>
        </p:txBody>
      </p:sp>
      <p:sp>
        <p:nvSpPr>
          <p:cNvPr id="17" name="Shape 11"/>
          <p:cNvSpPr/>
          <p:nvPr/>
        </p:nvSpPr>
        <p:spPr>
          <a:xfrm>
            <a:off x="8870950" y="2540000"/>
            <a:ext cx="2508250" cy="2095500"/>
          </a:xfrm>
          <a:prstGeom prst="roundRect">
            <a:avLst>
              <a:gd name="adj" fmla="val 7273"/>
            </a:avLst>
          </a:prstGeom>
          <a:solidFill>
            <a:srgbClr val="86D028"/>
          </a:solidFill>
          <a:ln/>
          <a:effectLst>
            <a:outerShdw sx="100000" sy="100000" kx="0" ky="0" algn="bl" rotWithShape="0" blurRad="304800" dist="0" dir="60000">
              <a:srgbClr val="86D028">
                <a:alpha val="30000"/>
              </a:srgbClr>
            </a:outerShdw>
          </a:effectLst>
        </p:spPr>
      </p:sp>
      <p:pic>
        <p:nvPicPr>
          <p:cNvPr id="18" name="Image 4" descr="Lightbulb">    </p:cNvPr>
          <p:cNvPicPr>
            <a:picLocks noChangeAspect="1"/>
          </p:cNvPicPr>
          <p:nvPr/>
        </p:nvPicPr>
        <p:blipFill>
          <a:blip r:embed="rId5"/>
          <a:srcRect l="0" r="0" t="0" b="0"/>
          <a:stretch/>
        </p:blipFill>
        <p:spPr>
          <a:xfrm>
            <a:off x="9124950" y="2794000"/>
            <a:ext cx="304800" cy="304800"/>
          </a:xfrm>
          <a:prstGeom prst="rect">
            <a:avLst/>
          </a:prstGeom>
        </p:spPr>
      </p:pic>
      <p:sp>
        <p:nvSpPr>
          <p:cNvPr id="19" name="Text 12"/>
          <p:cNvSpPr/>
          <p:nvPr/>
        </p:nvSpPr>
        <p:spPr>
          <a:xfrm>
            <a:off x="9124950" y="3200400"/>
            <a:ext cx="206025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91E"/>
                </a:solidFill>
                <a:latin typeface="Geist" pitchFamily="34" charset="0"/>
                <a:ea typeface="Geist" pitchFamily="34" charset="-122"/>
                <a:cs typeface="Geist" pitchFamily="34" charset="-120"/>
              </a:rPr>
              <a:t>Self-improving</a:t>
            </a:r>
            <a:endParaRPr lang="en-US" sz="1800" dirty="0"/>
          </a:p>
        </p:txBody>
      </p:sp>
      <p:sp>
        <p:nvSpPr>
          <p:cNvPr id="20" name="Text 13"/>
          <p:cNvSpPr/>
          <p:nvPr/>
        </p:nvSpPr>
        <p:spPr>
          <a:xfrm>
            <a:off x="9124950" y="3576290"/>
            <a:ext cx="2060257"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0B191E"/>
                </a:solidFill>
                <a:latin typeface="Geist" pitchFamily="34" charset="0"/>
                <a:ea typeface="Geist" pitchFamily="34" charset="-122"/>
                <a:cs typeface="Geist" pitchFamily="34" charset="-120"/>
              </a:rPr>
              <a:t>User corrections retrain the detection model.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web embed">    </p:cNvPr>
          <p:cNvPicPr>
            <a:picLocks noChangeAspect="1"/>
          </p:cNvPicPr>
          <p:nvPr/>
        </p:nvPicPr>
        <p:blipFill>
          <a:blip r:embed="rId1"/>
          <a:srcRect l="0" r="0" t="0" b="0"/>
          <a:stretch/>
        </p:blipFill>
        <p:spPr>
          <a:xfrm>
            <a:off x="7239000" y="1143000"/>
            <a:ext cx="4191000" cy="4191000"/>
          </a:xfrm>
          <a:prstGeom prst="rect">
            <a:avLst/>
          </a:prstGeom>
        </p:spPr>
      </p:pic>
      <p:sp>
        <p:nvSpPr>
          <p:cNvPr id="3" name="Text 0"/>
          <p:cNvSpPr/>
          <p:nvPr>
            <p:ph type="title"/>
          </p:nvPr>
        </p:nvSpPr>
        <p:spPr>
          <a:xfrm>
            <a:off x="812800" y="1587500"/>
            <a:ext cx="6540500" cy="2057400"/>
          </a:xfrm>
          <a:prstGeom prst="rect">
            <a:avLst/>
          </a:prstGeom>
          <a:noFill/>
          <a:ln/>
        </p:spPr>
        <p:txBody>
          <a:bodyPr wrap="square" lIns="0" tIns="0" rIns="0" bIns="0" rtlCol="0" anchor="t">
            <a:normAutofit/>
          </a:bodyPr>
          <a:lstStyle/>
          <a:p>
            <a:pPr algn="l" indent="0" marL="0">
              <a:lnSpc>
                <a:spcPts val="8000"/>
              </a:lnSpc>
              <a:buNone/>
            </a:pPr>
            <a:r>
              <a:rPr lang="en-US" sz="8000" b="1" i="0" spc="-300" kern="0" dirty="0">
                <a:solidFill>
                  <a:srgbClr val="0B191E"/>
                </a:solidFill>
                <a:latin typeface="Geist" pitchFamily="34" charset="0"/>
                <a:ea typeface="Geist" pitchFamily="34" charset="-122"/>
                <a:cs typeface="Geist" pitchFamily="34" charset="-120"/>
              </a:rPr>
              <a:t>Every piece counts.</a:t>
            </a:r>
            <a:endParaRPr lang="en-US" sz="8000" dirty="0"/>
          </a:p>
        </p:txBody>
      </p:sp>
      <p:sp>
        <p:nvSpPr>
          <p:cNvPr id="4" name="Text 1"/>
          <p:cNvSpPr/>
          <p:nvPr/>
        </p:nvSpPr>
        <p:spPr>
          <a:xfrm>
            <a:off x="812800" y="3937000"/>
            <a:ext cx="5886450" cy="695920"/>
          </a:xfrm>
          <a:prstGeom prst="rect">
            <a:avLst/>
          </a:prstGeom>
          <a:noFill/>
          <a:ln/>
        </p:spPr>
        <p:txBody>
          <a:bodyPr wrap="square" lIns="0" tIns="0" rIns="0" bIns="0" rtlCol="0" anchor="t">
            <a:normAutofit/>
          </a:bodyPr>
          <a:lstStyle/>
          <a:p>
            <a:pPr algn="l" indent="0" marL="0">
              <a:lnSpc>
                <a:spcPts val="5280"/>
              </a:lnSpc>
              <a:buNone/>
            </a:pPr>
            <a:r>
              <a:rPr lang="en-US" sz="4800" i="1" dirty="0">
                <a:solidFill>
                  <a:srgbClr val="0B191E"/>
                </a:solidFill>
                <a:latin typeface="Instrument Serif" pitchFamily="18" charset="0"/>
                <a:ea typeface="Instrument Serif" pitchFamily="18" charset="-122"/>
                <a:cs typeface="Instrument Serif" pitchFamily="18" charset="-120"/>
              </a:rPr>
              <a:t>Thank you.</a:t>
            </a:r>
            <a:endParaRPr lang="en-US" sz="4800" dirty="0"/>
          </a:p>
        </p:txBody>
      </p:sp>
      <p:sp>
        <p:nvSpPr>
          <p:cNvPr id="5" name="Text 2"/>
          <p:cNvSpPr/>
          <p:nvPr/>
        </p:nvSpPr>
        <p:spPr>
          <a:xfrm>
            <a:off x="812800" y="62027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B191E"/>
                </a:solidFill>
                <a:latin typeface="Geist" pitchFamily="34" charset="0"/>
                <a:ea typeface="Geist" pitchFamily="34" charset="-122"/>
                <a:cs typeface="Geist" pitchFamily="34" charset="-120"/>
              </a:rPr>
              <a:t>ECOLOOP · SUZUKA · CBIT KOLAR</a:t>
            </a:r>
            <a:endParaRPr lang="en-US" sz="1400" dirty="0"/>
          </a:p>
        </p:txBody>
      </p:sp>
    </p:spTree>
  </p:cSld>
  <p:clrMapOvr>
    <a:masterClrMapping/>
  </p:clrMapOvr>
</p:sld>
</file>

<file path=ppt/theme/theme1.xml><?xml version="1.0" encoding="utf-8"?>
<a:theme xmlns:a="http://schemas.openxmlformats.org/drawingml/2006/main" name="EcoLoop — Smart Recycling Assistant">
  <a:themeElements>
    <a:clrScheme name="EcoLoop — Smart Recycling Assistant">
      <a:dk1>
        <a:srgbClr val="0B191E"/>
      </a:dk1>
      <a:lt1>
        <a:srgbClr val="F1F6F2"/>
      </a:lt1>
      <a:dk2>
        <a:srgbClr val="222F33"/>
      </a:dk2>
      <a:lt2>
        <a:srgbClr val="B8BFBD"/>
      </a:lt2>
      <a:accent1>
        <a:srgbClr val="86D028"/>
      </a:accent1>
      <a:accent2>
        <a:srgbClr val="13293A"/>
      </a:accent2>
      <a:accent3>
        <a:srgbClr val="5A9A14"/>
      </a:accent3>
      <a:accent4>
        <a:srgbClr val="4D7A12"/>
      </a:accent4>
      <a:accent5>
        <a:srgbClr val="60A5FA"/>
      </a:accent5>
      <a:accent6>
        <a:srgbClr val="A78BFA"/>
      </a:accent6>
      <a:hlink>
        <a:srgbClr val="0563C1"/>
      </a:hlink>
      <a:folHlink>
        <a:srgbClr val="954F72"/>
      </a:folHlink>
    </a:clrScheme>
    <a:fontScheme name="EcoLoop — Smart Recycling Assistan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EcoLoop — Smart Recycling Assistant</dc:title>
  <dc:subject/>
  <dc:creator/>
  <cp:lastModifiedBy/>
  <cp:revision>1</cp:revision>
  <dcterms:created xsi:type="dcterms:W3CDTF">2026-10-16T09:20:38Z</dcterms:created>
  <dcterms:modified xsi:type="dcterms:W3CDTF">2026-10-16T09:20:38Z</dcterms:modified>
</cp:coreProperties>
</file>